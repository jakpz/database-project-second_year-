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9196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present FAMS, the Football Academy Management System for Apex Youth Football Academy: a MySQL-backed web application. We cover the business, rules, design, implementation and a tour of the live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is a fictional youth academy designed around 120 players, 8 coaches, 12 classes, 4 age groups and 36 sessions a week; these are planning assumptions. The manual process creates risks such as a player promoted from U12 to U16 still being linked to a U12 class (an illustrative scenario, not a verified incident). Actors: Administrator (daily), Coach (each session), Parent/Guardian (as needed), Academy Manager (weekly). Out of scope: payments, native mobile apps, multiple branches, advanced analytics, secondary positions.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this project because academy operations depend on accurate relationships between players, classes, coaches, registrations and attendance. These three objectives are targets for testing, not measured results.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26 business rules are enforced by database constraints and triggers where implemented, with extra validation and role-based access control in the Express application. Examples: a player may register for the same class only once (UNIQUE player_id, class_id); only one attendance record per player per session; a player has at most one primary guardian; class enrollment must not exceed capacity; a player must meet the class's age-group requirement.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Age Group has many Players and Classes; Position has many Players and specializes into Goalkeeper and Outfield Player; Parent and Player are many-to-many through Parent_Player; Coach manages many Classes; Training Program is used by many Classes; Class schedules many Training Sessions; Player enrolls in Class through Registration; attendance is recorded through Attendance; Player_Age_Group_History keeps start and end dates.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physical schema has 14 core tables plus two supporting tables, app_user for authentication and roles and age_group_recommendation for coach recommendations. The main schema is database/01_schema.sql; other scripts add seed data, queries, authentication, features and business-rule triggers.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normalized three business forms step by step. 1NF separates repeating groups. 2NF removes partial dependencies such as parent_id to parent details. 3NF extracts transitive dependencies: age_group_id to group details, position_id to position details, coach_id, program_id, class_id, session_id, plus the goalkeeper and outfield subtypes. Under the stated functional dependencies each determinant is a candidate key or superkey, so the 14 core relations are designed to satisfy BCNF.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the standard nine-step mapping algorithm. Seven regular entities become tables. All 1:N relationships become a foreign key on the N side, for example class.coach_id. Three M:N relationships become associative tables. For the POSITION specialization we chose option 8A: POSITION holds position_id, position_name and position_type; GOALKEEPER holds goalkeeper_style; OUTFIELD_PLAYER holds field_zone; each subtype uses position_id as both primary and foreign key. Pros: follows the EER, avoids NULLs. Cons: JOINs and extra validation to enforce disjoint and total.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stores each training class and references its coach, program and age group; capacity must be greater than zero. REGISTRATION uses a surrogate key and a UNIQUE (player_id, class_id) constraint so a player cannot register twice for the same class. Age-group eligibility and class capacity are checked by additional validation. The slide shows shortened excerpts; the real script has named constraints.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registration is a transaction. The class row is locked with SELECT ... FOR UPDATE, the active registration count is compared with the capacity, and the player's age group is validated. If both checks pass the registration is inserted with today's date and status Active and the transaction commits. Otherwise the app rolls back. The Node.js helper gets one connection from the pool, begins the transaction, runs the work, commits on success, rolls back on error and always releases the connection.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03_queries.sql holds 10 business reports. In the attendance percentage reports, Present and Late count as attended while Absent and Excused do not. These reports also appear in the SQL Reports page of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flows: browser, route protection, Express routes, business logic, data access with parameterized queries, then MySQL. The browser does not communicate directly with the database.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Concurrency control matters when multiple users register players for the same class at the same time. InnoDB row-level locking with SELECT ... FOR UPDATE serializes the capacity check so both requests cannot exceed the capacity. This protects against over-enrollment only if it is applied consistently in all registration operations.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MySQL gives primary and foreign keys, CHECK constraints, transactions and SQL. Node.js, Express and EJS give a straightforward three-tier app without a separate frontend framework. Plain SQL with mysql2 suits a database design project because joins, constraints and transactions are visible. Testing: Node test runner for authorization tests, database verification scripts, and manual browser testing of login, players, registration and attendance.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middleware lets Admin do everything, Management read the dashboard, reports and profile, Coach use the coach portal, attendance and recommendations, and Parent view their own children and profile. Authorization tests live in tests/authorization.test.js.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proposal, objectives, scope, user roles, 25 business rules and a preliminary EER. Week 4: EER diagram in Draw.io. Week 6: relational schema, normalization and mapping. Week 7: MySQL schema, DDL, sample data. Week 8: SQL query scripts, at least 10 queries. Week 9: Node.js/Express application with EJS, role-based access, documentation, slides and demonstration. Quality checkpoints: database constraints, application workflows, reports, final demonstration.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academy overview and upcoming sessions, with totals, upcoming training and the attendance rate calculated from MySQL attendance records.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search and manage player records. When a new player is created the application requires at least one guardian.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Classes: manage classes, coaches and capacities. Business rules 2, 7 and 8 and the capacity check apply here.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Registrations: view and update player enrollments. Changing a status to Active re-checks the class capacity inside a transaction that locks the class row.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Attendance: record training-session attendance. The database allows one record per player per session and only for players registered in the session's class.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reports: management reports run as plain SQL; the page shows the result for the selected report, here players by age group.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for questions. Demo accounts exist for the four roles (see scripts/seed-demo-accounts.js). Replace the placeholder with the GitHub repository link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9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2261B"/>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45641"/>
            <a:ext cx="10566400" cy="4099559"/>
          </a:xfrm>
          <a:prstGeom prst="rect">
            <a:avLst/>
          </a:prstGeom>
          <a:noFill/>
          <a:ln/>
        </p:spPr>
        <p:txBody>
          <a:bodyPr wrap="square" lIns="0" tIns="0" rIns="0" bIns="0" rtlCol="0" anchor="t"/>
          <a:lstStyle>
            <a:lvl1pPr marL="0" indent="0" algn="l">
              <a:lnSpc>
                <a:spcPct val="140000"/>
              </a:lnSpc>
              <a:buNone/>
              <a:defRPr lang="en-US" sz="1600" dirty="0">
                <a:solidFill>
                  <a:srgbClr val="12261B"/>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9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2261B"/>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45641"/>
            <a:ext cx="10566400" cy="4099559"/>
          </a:xfrm>
          <a:prstGeom prst="rect">
            <a:avLst/>
          </a:prstGeom>
          <a:noFill/>
          <a:ln/>
        </p:spPr>
        <p:txBody>
          <a:bodyPr wrap="square" lIns="0" tIns="0" rIns="0" bIns="0" rtlCol="0" anchor="t"/>
          <a:lstStyle>
            <a:lvl1pPr marL="0" indent="0" algn="l">
              <a:lnSpc>
                <a:spcPct val="140000"/>
              </a:lnSpc>
              <a:buNone/>
              <a:defRPr lang="en-US" sz="1600" dirty="0">
                <a:solidFill>
                  <a:srgbClr val="12261B"/>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1C"/>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7112000" y="1270000"/>
            <a:ext cx="3937000" cy="3937000"/>
          </a:xfrm>
          <a:prstGeom prst="rect">
            <a:avLst/>
          </a:prstGeom>
        </p:spPr>
      </p:pic>
      <p:pic>
        <p:nvPicPr>
          <p:cNvPr id="3" name="Image 1" descr="ellipse"/>
          <p:cNvPicPr>
            <a:picLocks noChangeAspect="1"/>
          </p:cNvPicPr>
          <p:nvPr/>
        </p:nvPicPr>
        <p:blipFill>
          <a:blip r:embed="rId4"/>
          <a:srcRect/>
          <a:stretch/>
        </p:blipFill>
        <p:spPr>
          <a:xfrm>
            <a:off x="8864600" y="3022600"/>
            <a:ext cx="431800" cy="431800"/>
          </a:xfrm>
          <a:prstGeom prst="rect">
            <a:avLst/>
          </a:prstGeom>
        </p:spPr>
      </p:pic>
      <p:sp>
        <p:nvSpPr>
          <p:cNvPr id="4" name="Text 0"/>
          <p:cNvSpPr/>
          <p:nvPr/>
        </p:nvSpPr>
        <p:spPr>
          <a:xfrm>
            <a:off x="812800" y="812800"/>
            <a:ext cx="6858000" cy="483394"/>
          </a:xfrm>
          <a:prstGeom prst="rect">
            <a:avLst/>
          </a:prstGeom>
          <a:noFill/>
          <a:ln/>
        </p:spPr>
        <p:txBody>
          <a:bodyPr wrap="square" lIns="0" tIns="0" rIns="0" bIns="0" rtlCol="0" anchor="t">
            <a:normAutofit/>
          </a:bodyPr>
          <a:lstStyle/>
          <a:p>
            <a:pPr marL="0" indent="0" algn="l">
              <a:lnSpc>
                <a:spcPts val="1850"/>
              </a:lnSpc>
              <a:buNone/>
            </a:pPr>
            <a:r>
              <a:rPr lang="en-US" sz="1321" b="1" kern="0" spc="300" dirty="0">
                <a:solidFill>
                  <a:srgbClr val="C8F03C"/>
                </a:solidFill>
                <a:latin typeface="Public Sans" pitchFamily="34" charset="0"/>
                <a:ea typeface="Public Sans" pitchFamily="34" charset="-122"/>
                <a:cs typeface="Public Sans" pitchFamily="34" charset="-120"/>
              </a:rPr>
              <a:t>SE212 DATABASE DESIGN AND DATABASE SYSTEM</a:t>
            </a:r>
            <a:endParaRPr lang="en-US" sz="1321" dirty="0"/>
          </a:p>
        </p:txBody>
      </p:sp>
      <p:sp>
        <p:nvSpPr>
          <p:cNvPr id="5" name="Text 1"/>
          <p:cNvSpPr>
            <a:spLocks noGrp="1"/>
          </p:cNvSpPr>
          <p:nvPr>
            <p:ph type="title"/>
          </p:nvPr>
        </p:nvSpPr>
        <p:spPr>
          <a:xfrm>
            <a:off x="812800" y="1524794"/>
            <a:ext cx="6540500" cy="2385139"/>
          </a:xfrm>
          <a:prstGeom prst="rect">
            <a:avLst/>
          </a:prstGeom>
          <a:noFill/>
          <a:ln/>
        </p:spPr>
        <p:txBody>
          <a:bodyPr wrap="square" lIns="0" tIns="0" rIns="0" bIns="0" rtlCol="0" anchor="t">
            <a:normAutofit/>
          </a:bodyPr>
          <a:lstStyle/>
          <a:p>
            <a:pPr marL="0" indent="0" algn="l">
              <a:lnSpc>
                <a:spcPts val="6206"/>
              </a:lnSpc>
              <a:buNone/>
            </a:pPr>
            <a:r>
              <a:rPr lang="en-US" sz="6084" b="1" i="0" dirty="0">
                <a:solidFill>
                  <a:srgbClr val="F5F3EA"/>
                </a:solidFill>
                <a:latin typeface="Oswald" pitchFamily="34" charset="0"/>
                <a:ea typeface="Oswald" pitchFamily="34" charset="-122"/>
                <a:cs typeface="Oswald" pitchFamily="34" charset="-120"/>
              </a:rPr>
              <a:t>APEX YOUTH FOOTBALL ACADEMY</a:t>
            </a:r>
            <a:endParaRPr lang="en-US" sz="6084" dirty="0"/>
          </a:p>
        </p:txBody>
      </p:sp>
      <p:sp>
        <p:nvSpPr>
          <p:cNvPr id="6" name="Text 2"/>
          <p:cNvSpPr/>
          <p:nvPr/>
        </p:nvSpPr>
        <p:spPr>
          <a:xfrm>
            <a:off x="812800" y="4138533"/>
            <a:ext cx="6299200" cy="745172"/>
          </a:xfrm>
          <a:prstGeom prst="rect">
            <a:avLst/>
          </a:prstGeom>
          <a:noFill/>
          <a:ln/>
        </p:spPr>
        <p:txBody>
          <a:bodyPr wrap="square" lIns="0" tIns="0" rIns="0" bIns="0" rtlCol="0" anchor="t">
            <a:normAutofit/>
          </a:bodyPr>
          <a:lstStyle/>
          <a:p>
            <a:pPr marL="0" indent="0" algn="l">
              <a:lnSpc>
                <a:spcPts val="2839"/>
              </a:lnSpc>
              <a:buNone/>
            </a:pPr>
            <a:r>
              <a:rPr lang="en-US" sz="2028" dirty="0">
                <a:solidFill>
                  <a:srgbClr val="BFD3C6"/>
                </a:solidFill>
                <a:latin typeface="Public Sans" pitchFamily="34" charset="0"/>
                <a:ea typeface="Public Sans" pitchFamily="34" charset="-122"/>
                <a:cs typeface="Public Sans" pitchFamily="34" charset="-120"/>
              </a:rPr>
              <a:t>Football Academy Management System (FAMS)</a:t>
            </a:r>
            <a:endParaRPr lang="en-US" sz="2028" dirty="0"/>
          </a:p>
        </p:txBody>
      </p:sp>
      <p:sp>
        <p:nvSpPr>
          <p:cNvPr id="7" name="Text 3"/>
          <p:cNvSpPr/>
          <p:nvPr/>
        </p:nvSpPr>
        <p:spPr>
          <a:xfrm>
            <a:off x="812800" y="5264706"/>
            <a:ext cx="5886450" cy="251698"/>
          </a:xfrm>
          <a:prstGeom prst="rect">
            <a:avLst/>
          </a:prstGeom>
          <a:noFill/>
          <a:ln/>
        </p:spPr>
        <p:txBody>
          <a:bodyPr wrap="square" lIns="0" tIns="0" rIns="0" bIns="0" rtlCol="0" anchor="t">
            <a:normAutofit/>
          </a:bodyPr>
          <a:lstStyle/>
          <a:p>
            <a:pPr marL="0" indent="0" algn="l">
              <a:lnSpc>
                <a:spcPts val="1819"/>
              </a:lnSpc>
              <a:buNone/>
            </a:pPr>
            <a:r>
              <a:rPr lang="en-US" sz="1299" b="1" dirty="0">
                <a:solidFill>
                  <a:srgbClr val="F5F3EA"/>
                </a:solidFill>
                <a:latin typeface="Public Sans" pitchFamily="34" charset="0"/>
                <a:ea typeface="Public Sans" pitchFamily="34" charset="-122"/>
                <a:cs typeface="Public Sans" pitchFamily="34" charset="-120"/>
              </a:rPr>
              <a:t>Noppajit Jadsorn · 682115020</a:t>
            </a:r>
            <a:endParaRPr lang="en-US" sz="1299" dirty="0"/>
          </a:p>
        </p:txBody>
      </p:sp>
      <p:sp>
        <p:nvSpPr>
          <p:cNvPr id="8" name="Text 4"/>
          <p:cNvSpPr/>
          <p:nvPr/>
        </p:nvSpPr>
        <p:spPr>
          <a:xfrm>
            <a:off x="812800" y="5541804"/>
            <a:ext cx="5886450" cy="251698"/>
          </a:xfrm>
          <a:prstGeom prst="rect">
            <a:avLst/>
          </a:prstGeom>
          <a:noFill/>
          <a:ln/>
        </p:spPr>
        <p:txBody>
          <a:bodyPr wrap="square" lIns="0" tIns="0" rIns="0" bIns="0" rtlCol="0" anchor="t">
            <a:normAutofit/>
          </a:bodyPr>
          <a:lstStyle/>
          <a:p>
            <a:pPr marL="0" indent="0" algn="l">
              <a:lnSpc>
                <a:spcPts val="1819"/>
              </a:lnSpc>
              <a:buNone/>
            </a:pPr>
            <a:r>
              <a:rPr lang="en-US" sz="1299" b="1" dirty="0">
                <a:solidFill>
                  <a:srgbClr val="F5F3EA"/>
                </a:solidFill>
                <a:latin typeface="Public Sans" pitchFamily="34" charset="0"/>
                <a:ea typeface="Public Sans" pitchFamily="34" charset="-122"/>
                <a:cs typeface="Public Sans" pitchFamily="34" charset="-120"/>
              </a:rPr>
              <a:t>Jakkaphat Didsabanjong · 682115008</a:t>
            </a:r>
            <a:endParaRPr lang="en-US" sz="1299" dirty="0"/>
          </a:p>
        </p:txBody>
      </p:sp>
      <p:sp>
        <p:nvSpPr>
          <p:cNvPr id="9" name="Text 5"/>
          <p:cNvSpPr/>
          <p:nvPr/>
        </p:nvSpPr>
        <p:spPr>
          <a:xfrm>
            <a:off x="812800" y="5818902"/>
            <a:ext cx="5886450" cy="251698"/>
          </a:xfrm>
          <a:prstGeom prst="rect">
            <a:avLst/>
          </a:prstGeom>
          <a:noFill/>
          <a:ln/>
        </p:spPr>
        <p:txBody>
          <a:bodyPr wrap="square" lIns="0" tIns="0" rIns="0" bIns="0" rtlCol="0" anchor="t">
            <a:normAutofit/>
          </a:bodyPr>
          <a:lstStyle/>
          <a:p>
            <a:pPr marL="0" indent="0" algn="l">
              <a:lnSpc>
                <a:spcPts val="1819"/>
              </a:lnSpc>
              <a:buNone/>
            </a:pPr>
            <a:r>
              <a:rPr lang="en-US" sz="1299" dirty="0">
                <a:solidFill>
                  <a:srgbClr val="BFD3C6"/>
                </a:solidFill>
                <a:latin typeface="Public Sans" pitchFamily="34" charset="0"/>
                <a:ea typeface="Public Sans" pitchFamily="34" charset="-122"/>
                <a:cs typeface="Public Sans" pitchFamily="34" charset="-120"/>
              </a:rPr>
              <a:t>Term Project Final Report · Instructor: Aj. Pree</a:t>
            </a:r>
            <a:endParaRPr lang="en-US" sz="1299"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01 · INTRODUCTION</a:t>
            </a:r>
            <a:endParaRPr lang="en-US" sz="1400" dirty="0"/>
          </a:p>
        </p:txBody>
      </p:sp>
      <p:sp>
        <p:nvSpPr>
          <p:cNvPr id="3" name="Text 1"/>
          <p:cNvSpPr>
            <a:spLocks noGrp="1"/>
          </p:cNvSpPr>
          <p:nvPr>
            <p:ph type="title"/>
          </p:nvPr>
        </p:nvSpPr>
        <p:spPr>
          <a:xfrm>
            <a:off x="812800" y="113792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A YOUTH ACADEMY RUN ON SPREADSHEETS</a:t>
            </a:r>
            <a:endParaRPr lang="en-US" sz="3600" dirty="0"/>
          </a:p>
        </p:txBody>
      </p:sp>
      <p:sp>
        <p:nvSpPr>
          <p:cNvPr id="4" name="Shape 2"/>
          <p:cNvSpPr/>
          <p:nvPr/>
        </p:nvSpPr>
        <p:spPr>
          <a:xfrm>
            <a:off x="815975" y="1898015"/>
            <a:ext cx="1985010" cy="1271270"/>
          </a:xfrm>
          <a:prstGeom prst="roundRect">
            <a:avLst>
              <a:gd name="adj" fmla="val 7742"/>
            </a:avLst>
          </a:prstGeom>
          <a:solidFill>
            <a:srgbClr val="FBFAF5"/>
          </a:solidFill>
          <a:ln w="6350">
            <a:solidFill>
              <a:srgbClr val="DAD7C8"/>
            </a:solidFill>
            <a:prstDash val="solid"/>
          </a:ln>
        </p:spPr>
        <p:txBody>
          <a:bodyPr/>
          <a:lstStyle/>
          <a:p>
            <a:endParaRPr lang="en-TH"/>
          </a:p>
        </p:txBody>
      </p:sp>
      <p:sp>
        <p:nvSpPr>
          <p:cNvPr id="5" name="Text 3"/>
          <p:cNvSpPr/>
          <p:nvPr/>
        </p:nvSpPr>
        <p:spPr>
          <a:xfrm>
            <a:off x="1021080" y="2103120"/>
            <a:ext cx="1625600" cy="612140"/>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1F7A45"/>
                </a:solidFill>
                <a:latin typeface="Oswald" pitchFamily="34" charset="0"/>
                <a:ea typeface="Oswald" pitchFamily="34" charset="-122"/>
                <a:cs typeface="Oswald" pitchFamily="34" charset="-120"/>
              </a:rPr>
              <a:t>118</a:t>
            </a:r>
            <a:endParaRPr lang="en-US" sz="4400" dirty="0"/>
          </a:p>
        </p:txBody>
      </p:sp>
      <p:sp>
        <p:nvSpPr>
          <p:cNvPr id="6" name="Text 4"/>
          <p:cNvSpPr/>
          <p:nvPr/>
        </p:nvSpPr>
        <p:spPr>
          <a:xfrm>
            <a:off x="1021080" y="2715260"/>
            <a:ext cx="16256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Players</a:t>
            </a:r>
            <a:endParaRPr lang="en-US" sz="1400" dirty="0"/>
          </a:p>
        </p:txBody>
      </p:sp>
      <p:sp>
        <p:nvSpPr>
          <p:cNvPr id="7" name="Shape 5"/>
          <p:cNvSpPr/>
          <p:nvPr/>
        </p:nvSpPr>
        <p:spPr>
          <a:xfrm>
            <a:off x="2959735" y="1898015"/>
            <a:ext cx="1985010" cy="1271270"/>
          </a:xfrm>
          <a:prstGeom prst="roundRect">
            <a:avLst>
              <a:gd name="adj" fmla="val 7742"/>
            </a:avLst>
          </a:prstGeom>
          <a:solidFill>
            <a:srgbClr val="FBFAF5"/>
          </a:solidFill>
          <a:ln w="6350">
            <a:solidFill>
              <a:srgbClr val="DAD7C8"/>
            </a:solidFill>
            <a:prstDash val="solid"/>
          </a:ln>
        </p:spPr>
        <p:txBody>
          <a:bodyPr/>
          <a:lstStyle/>
          <a:p>
            <a:endParaRPr lang="en-TH"/>
          </a:p>
        </p:txBody>
      </p:sp>
      <p:sp>
        <p:nvSpPr>
          <p:cNvPr id="8" name="Text 6"/>
          <p:cNvSpPr/>
          <p:nvPr/>
        </p:nvSpPr>
        <p:spPr>
          <a:xfrm>
            <a:off x="3164840" y="2103120"/>
            <a:ext cx="1625600" cy="612140"/>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1F7A45"/>
                </a:solidFill>
                <a:latin typeface="Oswald" pitchFamily="34" charset="0"/>
                <a:ea typeface="Oswald" pitchFamily="34" charset="-122"/>
                <a:cs typeface="Oswald" pitchFamily="34" charset="-120"/>
              </a:rPr>
              <a:t>8</a:t>
            </a:r>
            <a:endParaRPr lang="en-US" sz="4400" dirty="0"/>
          </a:p>
        </p:txBody>
      </p:sp>
      <p:sp>
        <p:nvSpPr>
          <p:cNvPr id="9" name="Text 7"/>
          <p:cNvSpPr/>
          <p:nvPr/>
        </p:nvSpPr>
        <p:spPr>
          <a:xfrm>
            <a:off x="3164840" y="2715260"/>
            <a:ext cx="16256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Coaches</a:t>
            </a:r>
            <a:endParaRPr lang="en-US" sz="1400" dirty="0"/>
          </a:p>
        </p:txBody>
      </p:sp>
      <p:sp>
        <p:nvSpPr>
          <p:cNvPr id="10" name="Shape 8"/>
          <p:cNvSpPr/>
          <p:nvPr/>
        </p:nvSpPr>
        <p:spPr>
          <a:xfrm>
            <a:off x="5103495" y="1898015"/>
            <a:ext cx="1985010" cy="1271270"/>
          </a:xfrm>
          <a:prstGeom prst="roundRect">
            <a:avLst>
              <a:gd name="adj" fmla="val 7742"/>
            </a:avLst>
          </a:prstGeom>
          <a:solidFill>
            <a:srgbClr val="FBFAF5"/>
          </a:solidFill>
          <a:ln w="6350">
            <a:solidFill>
              <a:srgbClr val="DAD7C8"/>
            </a:solidFill>
            <a:prstDash val="solid"/>
          </a:ln>
        </p:spPr>
        <p:txBody>
          <a:bodyPr/>
          <a:lstStyle/>
          <a:p>
            <a:endParaRPr lang="en-TH"/>
          </a:p>
        </p:txBody>
      </p:sp>
      <p:sp>
        <p:nvSpPr>
          <p:cNvPr id="11" name="Text 9"/>
          <p:cNvSpPr/>
          <p:nvPr/>
        </p:nvSpPr>
        <p:spPr>
          <a:xfrm>
            <a:off x="5308600" y="2103120"/>
            <a:ext cx="1625600" cy="612140"/>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1F7A45"/>
                </a:solidFill>
                <a:latin typeface="Oswald" pitchFamily="34" charset="0"/>
                <a:ea typeface="Oswald" pitchFamily="34" charset="-122"/>
                <a:cs typeface="Oswald" pitchFamily="34" charset="-120"/>
              </a:rPr>
              <a:t>12</a:t>
            </a:r>
            <a:endParaRPr lang="en-US" sz="4400" dirty="0"/>
          </a:p>
        </p:txBody>
      </p:sp>
      <p:sp>
        <p:nvSpPr>
          <p:cNvPr id="12" name="Text 10"/>
          <p:cNvSpPr/>
          <p:nvPr/>
        </p:nvSpPr>
        <p:spPr>
          <a:xfrm>
            <a:off x="5308600" y="2715260"/>
            <a:ext cx="16256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Classes</a:t>
            </a:r>
            <a:endParaRPr lang="en-US" sz="1400" dirty="0"/>
          </a:p>
        </p:txBody>
      </p:sp>
      <p:sp>
        <p:nvSpPr>
          <p:cNvPr id="13" name="Shape 11"/>
          <p:cNvSpPr/>
          <p:nvPr/>
        </p:nvSpPr>
        <p:spPr>
          <a:xfrm>
            <a:off x="7247255" y="1898015"/>
            <a:ext cx="1985010" cy="1271270"/>
          </a:xfrm>
          <a:prstGeom prst="roundRect">
            <a:avLst>
              <a:gd name="adj" fmla="val 7742"/>
            </a:avLst>
          </a:prstGeom>
          <a:solidFill>
            <a:srgbClr val="FBFAF5"/>
          </a:solidFill>
          <a:ln w="6350">
            <a:solidFill>
              <a:srgbClr val="DAD7C8"/>
            </a:solidFill>
            <a:prstDash val="solid"/>
          </a:ln>
        </p:spPr>
        <p:txBody>
          <a:bodyPr/>
          <a:lstStyle/>
          <a:p>
            <a:endParaRPr lang="en-TH"/>
          </a:p>
        </p:txBody>
      </p:sp>
      <p:sp>
        <p:nvSpPr>
          <p:cNvPr id="14" name="Text 12"/>
          <p:cNvSpPr/>
          <p:nvPr/>
        </p:nvSpPr>
        <p:spPr>
          <a:xfrm>
            <a:off x="7452360" y="2103120"/>
            <a:ext cx="1625600" cy="612140"/>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1F7A45"/>
                </a:solidFill>
                <a:latin typeface="Oswald" pitchFamily="34" charset="0"/>
                <a:ea typeface="Oswald" pitchFamily="34" charset="-122"/>
                <a:cs typeface="Oswald" pitchFamily="34" charset="-120"/>
              </a:rPr>
              <a:t>4</a:t>
            </a:r>
            <a:endParaRPr lang="en-US" sz="4400" dirty="0"/>
          </a:p>
        </p:txBody>
      </p:sp>
      <p:sp>
        <p:nvSpPr>
          <p:cNvPr id="15" name="Text 13"/>
          <p:cNvSpPr/>
          <p:nvPr/>
        </p:nvSpPr>
        <p:spPr>
          <a:xfrm>
            <a:off x="7452360" y="2715260"/>
            <a:ext cx="16256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Age groups</a:t>
            </a:r>
            <a:endParaRPr lang="en-US" sz="1400" dirty="0"/>
          </a:p>
        </p:txBody>
      </p:sp>
      <p:sp>
        <p:nvSpPr>
          <p:cNvPr id="16" name="Shape 14"/>
          <p:cNvSpPr/>
          <p:nvPr/>
        </p:nvSpPr>
        <p:spPr>
          <a:xfrm>
            <a:off x="9391015" y="1898015"/>
            <a:ext cx="1985010" cy="1271270"/>
          </a:xfrm>
          <a:prstGeom prst="roundRect">
            <a:avLst>
              <a:gd name="adj" fmla="val 7742"/>
            </a:avLst>
          </a:prstGeom>
          <a:solidFill>
            <a:srgbClr val="FBFAF5"/>
          </a:solidFill>
          <a:ln w="6350">
            <a:solidFill>
              <a:srgbClr val="DAD7C8"/>
            </a:solidFill>
            <a:prstDash val="solid"/>
          </a:ln>
        </p:spPr>
        <p:txBody>
          <a:bodyPr/>
          <a:lstStyle/>
          <a:p>
            <a:endParaRPr lang="en-TH"/>
          </a:p>
        </p:txBody>
      </p:sp>
      <p:sp>
        <p:nvSpPr>
          <p:cNvPr id="17" name="Text 15"/>
          <p:cNvSpPr/>
          <p:nvPr/>
        </p:nvSpPr>
        <p:spPr>
          <a:xfrm>
            <a:off x="9596120" y="2103120"/>
            <a:ext cx="1625600" cy="612140"/>
          </a:xfrm>
          <a:prstGeom prst="rect">
            <a:avLst/>
          </a:prstGeom>
          <a:noFill/>
          <a:ln/>
        </p:spPr>
        <p:txBody>
          <a:bodyPr wrap="square" lIns="0" tIns="0" rIns="0" bIns="0" rtlCol="0" anchor="t">
            <a:normAutofit/>
          </a:bodyPr>
          <a:lstStyle/>
          <a:p>
            <a:pPr marL="0" indent="0" algn="l">
              <a:lnSpc>
                <a:spcPts val="4620"/>
              </a:lnSpc>
              <a:buNone/>
            </a:pPr>
            <a:r>
              <a:rPr lang="en-US" sz="4400" b="1" dirty="0">
                <a:solidFill>
                  <a:srgbClr val="1F7A45"/>
                </a:solidFill>
                <a:latin typeface="Oswald" pitchFamily="34" charset="0"/>
                <a:ea typeface="Oswald" pitchFamily="34" charset="-122"/>
                <a:cs typeface="Oswald" pitchFamily="34" charset="-120"/>
              </a:rPr>
              <a:t>36</a:t>
            </a:r>
            <a:endParaRPr lang="en-US" sz="4400" dirty="0"/>
          </a:p>
        </p:txBody>
      </p:sp>
      <p:sp>
        <p:nvSpPr>
          <p:cNvPr id="18" name="Text 16"/>
          <p:cNvSpPr/>
          <p:nvPr/>
        </p:nvSpPr>
        <p:spPr>
          <a:xfrm>
            <a:off x="9596120" y="2715260"/>
            <a:ext cx="177673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Sessions per week</a:t>
            </a:r>
            <a:endParaRPr lang="en-US" sz="1400" dirty="0"/>
          </a:p>
        </p:txBody>
      </p:sp>
      <p:sp>
        <p:nvSpPr>
          <p:cNvPr id="19" name="Shape 17"/>
          <p:cNvSpPr/>
          <p:nvPr/>
        </p:nvSpPr>
        <p:spPr>
          <a:xfrm>
            <a:off x="815975" y="3429635"/>
            <a:ext cx="5205730" cy="1477010"/>
          </a:xfrm>
          <a:prstGeom prst="roundRect">
            <a:avLst>
              <a:gd name="adj" fmla="val 6664"/>
            </a:avLst>
          </a:prstGeom>
          <a:solidFill>
            <a:srgbClr val="FBFAF5"/>
          </a:solidFill>
          <a:ln w="6350">
            <a:solidFill>
              <a:srgbClr val="DAD7C8"/>
            </a:solidFill>
            <a:prstDash val="solid"/>
          </a:ln>
        </p:spPr>
        <p:txBody>
          <a:bodyPr/>
          <a:lstStyle/>
          <a:p>
            <a:endParaRPr lang="en-TH"/>
          </a:p>
        </p:txBody>
      </p:sp>
      <p:sp>
        <p:nvSpPr>
          <p:cNvPr id="20" name="Text 18"/>
          <p:cNvSpPr/>
          <p:nvPr/>
        </p:nvSpPr>
        <p:spPr>
          <a:xfrm>
            <a:off x="1021080" y="3634740"/>
            <a:ext cx="49393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61B"/>
                </a:solidFill>
                <a:latin typeface="Public Sans" pitchFamily="34" charset="0"/>
                <a:ea typeface="Public Sans" pitchFamily="34" charset="-122"/>
                <a:cs typeface="Public Sans" pitchFamily="34" charset="-120"/>
              </a:rPr>
              <a:t>The problem</a:t>
            </a:r>
            <a:endParaRPr lang="en-US" sz="1600" dirty="0"/>
          </a:p>
        </p:txBody>
      </p:sp>
      <p:sp>
        <p:nvSpPr>
          <p:cNvPr id="21" name="Text 19"/>
          <p:cNvSpPr/>
          <p:nvPr/>
        </p:nvSpPr>
        <p:spPr>
          <a:xfrm>
            <a:off x="1021080" y="3954780"/>
            <a:ext cx="4939386"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Spreadsheets, registration forms and attendance sheets risk duplicate registrations, outdated age-group assignments and slow attendance reporting.</a:t>
            </a:r>
            <a:endParaRPr lang="en-US" sz="1400" dirty="0"/>
          </a:p>
        </p:txBody>
      </p:sp>
      <p:sp>
        <p:nvSpPr>
          <p:cNvPr id="22" name="Shape 20"/>
          <p:cNvSpPr/>
          <p:nvPr/>
        </p:nvSpPr>
        <p:spPr>
          <a:xfrm>
            <a:off x="6177280" y="3426460"/>
            <a:ext cx="5201920" cy="1483360"/>
          </a:xfrm>
          <a:prstGeom prst="roundRect">
            <a:avLst>
              <a:gd name="adj" fmla="val 6849"/>
            </a:avLst>
          </a:prstGeom>
          <a:solidFill>
            <a:srgbClr val="0E2A1C"/>
          </a:solidFill>
          <a:ln/>
        </p:spPr>
        <p:txBody>
          <a:bodyPr/>
          <a:lstStyle/>
          <a:p>
            <a:endParaRPr lang="en-TH"/>
          </a:p>
        </p:txBody>
      </p:sp>
      <p:sp>
        <p:nvSpPr>
          <p:cNvPr id="23" name="Text 21"/>
          <p:cNvSpPr/>
          <p:nvPr/>
        </p:nvSpPr>
        <p:spPr>
          <a:xfrm>
            <a:off x="6380480" y="3629660"/>
            <a:ext cx="49393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C8F03C"/>
                </a:solidFill>
                <a:latin typeface="Public Sans" pitchFamily="34" charset="0"/>
                <a:ea typeface="Public Sans" pitchFamily="34" charset="-122"/>
                <a:cs typeface="Public Sans" pitchFamily="34" charset="-120"/>
              </a:rPr>
              <a:t>The solution: FAMS</a:t>
            </a:r>
            <a:endParaRPr lang="en-US" sz="1600" dirty="0"/>
          </a:p>
        </p:txBody>
      </p:sp>
      <p:sp>
        <p:nvSpPr>
          <p:cNvPr id="24" name="Text 22"/>
          <p:cNvSpPr/>
          <p:nvPr/>
        </p:nvSpPr>
        <p:spPr>
          <a:xfrm>
            <a:off x="6380480" y="3949700"/>
            <a:ext cx="4939386"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4EBE4"/>
                </a:solidFill>
                <a:latin typeface="Public Sans" pitchFamily="34" charset="0"/>
                <a:ea typeface="Public Sans" pitchFamily="34" charset="-122"/>
                <a:cs typeface="Public Sans" pitchFamily="34" charset="-120"/>
              </a:rPr>
              <a:t>Unique registrations, age-group eligibility checks, and attendance tied to training sessions, in one MySQL-backed web application.</a:t>
            </a:r>
            <a:endParaRPr lang="en-US" sz="1400" dirty="0"/>
          </a:p>
        </p:txBody>
      </p:sp>
      <p:sp>
        <p:nvSpPr>
          <p:cNvPr id="25" name="Text 23"/>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Fictional academy; the figures are planning assumptions. Actors: Administrator, Coach, Parent / Guardian, Academy Manager.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A1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8F03C"/>
                </a:solidFill>
                <a:latin typeface="Public Sans" pitchFamily="34" charset="0"/>
                <a:ea typeface="Public Sans" pitchFamily="34" charset="-122"/>
                <a:cs typeface="Public Sans" pitchFamily="34" charset="-120"/>
              </a:rPr>
              <a:t>02 · MOTIVATION</a:t>
            </a:r>
            <a:endParaRPr lang="en-US" sz="1400" dirty="0"/>
          </a:p>
        </p:txBody>
      </p:sp>
      <p:sp>
        <p:nvSpPr>
          <p:cNvPr id="3" name="Text 1"/>
          <p:cNvSpPr>
            <a:spLocks noGrp="1"/>
          </p:cNvSpPr>
          <p:nvPr>
            <p:ph type="title"/>
          </p:nvPr>
        </p:nvSpPr>
        <p:spPr>
          <a:xfrm>
            <a:off x="812800" y="1137920"/>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A"/>
                </a:solidFill>
                <a:latin typeface="Oswald" pitchFamily="34" charset="0"/>
                <a:ea typeface="Oswald" pitchFamily="34" charset="-122"/>
                <a:cs typeface="Oswald" pitchFamily="34" charset="-120"/>
              </a:rPr>
              <a:t>ACCURATE LINKS BETWEEN PLAYERS, CLASSES AND ATTENDANCE</a:t>
            </a:r>
            <a:endParaRPr lang="en-US" sz="3600" dirty="0"/>
          </a:p>
        </p:txBody>
      </p:sp>
      <p:sp>
        <p:nvSpPr>
          <p:cNvPr id="4" name="Shape 2"/>
          <p:cNvSpPr/>
          <p:nvPr/>
        </p:nvSpPr>
        <p:spPr>
          <a:xfrm>
            <a:off x="812800" y="2448561"/>
            <a:ext cx="3386614" cy="2194560"/>
          </a:xfrm>
          <a:prstGeom prst="roundRect">
            <a:avLst>
              <a:gd name="adj" fmla="val 4630"/>
            </a:avLst>
          </a:prstGeom>
          <a:solidFill>
            <a:srgbClr val="143826"/>
          </a:solidFill>
          <a:ln/>
        </p:spPr>
        <p:txBody>
          <a:bodyPr/>
          <a:lstStyle/>
          <a:p>
            <a:endParaRPr lang="en-TH"/>
          </a:p>
        </p:txBody>
      </p:sp>
      <p:sp>
        <p:nvSpPr>
          <p:cNvPr id="5" name="Text 3"/>
          <p:cNvSpPr/>
          <p:nvPr/>
        </p:nvSpPr>
        <p:spPr>
          <a:xfrm>
            <a:off x="1066800" y="2702561"/>
            <a:ext cx="296497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8F03C"/>
                </a:solidFill>
                <a:latin typeface="Oswald" pitchFamily="34" charset="0"/>
                <a:ea typeface="Oswald" pitchFamily="34" charset="-122"/>
                <a:cs typeface="Oswald" pitchFamily="34" charset="-120"/>
              </a:rPr>
              <a:t>100%</a:t>
            </a:r>
            <a:endParaRPr lang="en-US" sz="6000" dirty="0"/>
          </a:p>
        </p:txBody>
      </p:sp>
      <p:sp>
        <p:nvSpPr>
          <p:cNvPr id="6" name="Text 4"/>
          <p:cNvSpPr/>
          <p:nvPr/>
        </p:nvSpPr>
        <p:spPr>
          <a:xfrm>
            <a:off x="1066800" y="3566161"/>
            <a:ext cx="2964972" cy="84836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4EBE4"/>
                </a:solidFill>
                <a:latin typeface="Public Sans" pitchFamily="34" charset="0"/>
                <a:ea typeface="Public Sans" pitchFamily="34" charset="-122"/>
                <a:cs typeface="Public Sans" pitchFamily="34" charset="-120"/>
              </a:rPr>
              <a:t>of duplicate registrations and attendance entries prevented in constraint tests</a:t>
            </a:r>
            <a:endParaRPr lang="en-US" sz="1600" dirty="0"/>
          </a:p>
        </p:txBody>
      </p:sp>
      <p:sp>
        <p:nvSpPr>
          <p:cNvPr id="7" name="Shape 5"/>
          <p:cNvSpPr/>
          <p:nvPr/>
        </p:nvSpPr>
        <p:spPr>
          <a:xfrm>
            <a:off x="4402614" y="2448561"/>
            <a:ext cx="3386693" cy="2194560"/>
          </a:xfrm>
          <a:prstGeom prst="roundRect">
            <a:avLst>
              <a:gd name="adj" fmla="val 4630"/>
            </a:avLst>
          </a:prstGeom>
          <a:solidFill>
            <a:srgbClr val="143826"/>
          </a:solidFill>
          <a:ln/>
        </p:spPr>
        <p:txBody>
          <a:bodyPr/>
          <a:lstStyle/>
          <a:p>
            <a:endParaRPr lang="en-TH"/>
          </a:p>
        </p:txBody>
      </p:sp>
      <p:sp>
        <p:nvSpPr>
          <p:cNvPr id="8" name="Text 6"/>
          <p:cNvSpPr/>
          <p:nvPr/>
        </p:nvSpPr>
        <p:spPr>
          <a:xfrm>
            <a:off x="4656614" y="2702561"/>
            <a:ext cx="296505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8F03C"/>
                </a:solidFill>
                <a:latin typeface="Oswald" pitchFamily="34" charset="0"/>
                <a:ea typeface="Oswald" pitchFamily="34" charset="-122"/>
                <a:cs typeface="Oswald" pitchFamily="34" charset="-120"/>
              </a:rPr>
              <a:t>&lt; 5 s</a:t>
            </a:r>
            <a:endParaRPr lang="en-US" sz="6000" dirty="0"/>
          </a:p>
        </p:txBody>
      </p:sp>
      <p:sp>
        <p:nvSpPr>
          <p:cNvPr id="9" name="Text 7"/>
          <p:cNvSpPr/>
          <p:nvPr/>
        </p:nvSpPr>
        <p:spPr>
          <a:xfrm>
            <a:off x="4656614" y="3566161"/>
            <a:ext cx="2965054" cy="57404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4EBE4"/>
                </a:solidFill>
                <a:latin typeface="Public Sans" pitchFamily="34" charset="0"/>
                <a:ea typeface="Public Sans" pitchFamily="34" charset="-122"/>
                <a:cs typeface="Public Sans" pitchFamily="34" charset="-120"/>
              </a:rPr>
              <a:t>to generate an individual player attendance report</a:t>
            </a:r>
            <a:endParaRPr lang="en-US" sz="1600" dirty="0"/>
          </a:p>
        </p:txBody>
      </p:sp>
      <p:sp>
        <p:nvSpPr>
          <p:cNvPr id="10" name="Shape 8"/>
          <p:cNvSpPr/>
          <p:nvPr/>
        </p:nvSpPr>
        <p:spPr>
          <a:xfrm>
            <a:off x="7992507" y="2448561"/>
            <a:ext cx="3386693" cy="2194560"/>
          </a:xfrm>
          <a:prstGeom prst="roundRect">
            <a:avLst>
              <a:gd name="adj" fmla="val 4630"/>
            </a:avLst>
          </a:prstGeom>
          <a:solidFill>
            <a:srgbClr val="143826"/>
          </a:solidFill>
          <a:ln/>
        </p:spPr>
        <p:txBody>
          <a:bodyPr/>
          <a:lstStyle/>
          <a:p>
            <a:endParaRPr lang="en-TH"/>
          </a:p>
        </p:txBody>
      </p:sp>
      <p:sp>
        <p:nvSpPr>
          <p:cNvPr id="11" name="Text 9"/>
          <p:cNvSpPr/>
          <p:nvPr/>
        </p:nvSpPr>
        <p:spPr>
          <a:xfrm>
            <a:off x="8246507" y="2702561"/>
            <a:ext cx="296505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C8F03C"/>
                </a:solidFill>
                <a:latin typeface="Oswald" pitchFamily="34" charset="0"/>
                <a:ea typeface="Oswald" pitchFamily="34" charset="-122"/>
                <a:cs typeface="Oswald" pitchFamily="34" charset="-120"/>
              </a:rPr>
              <a:t>&lt; 5 s</a:t>
            </a:r>
            <a:endParaRPr lang="en-US" sz="6000" dirty="0"/>
          </a:p>
        </p:txBody>
      </p:sp>
      <p:sp>
        <p:nvSpPr>
          <p:cNvPr id="12" name="Text 10"/>
          <p:cNvSpPr/>
          <p:nvPr/>
        </p:nvSpPr>
        <p:spPr>
          <a:xfrm>
            <a:off x="8246507" y="3566161"/>
            <a:ext cx="2965054" cy="57404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4EBE4"/>
                </a:solidFill>
                <a:latin typeface="Public Sans" pitchFamily="34" charset="0"/>
                <a:ea typeface="Public Sans" pitchFamily="34" charset="-122"/>
                <a:cs typeface="Public Sans" pitchFamily="34" charset="-120"/>
              </a:rPr>
              <a:t>to produce enrollment summaries for all 12 classes</a:t>
            </a:r>
            <a:endParaRPr lang="en-US" sz="1600" dirty="0"/>
          </a:p>
        </p:txBody>
      </p:sp>
      <p:sp>
        <p:nvSpPr>
          <p:cNvPr id="13" name="Text 11"/>
          <p:cNvSpPr/>
          <p:nvPr/>
        </p:nvSpPr>
        <p:spPr>
          <a:xfrm>
            <a:off x="812800" y="4947920"/>
            <a:ext cx="915670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3C6"/>
                </a:solidFill>
                <a:latin typeface="Public Sans" pitchFamily="34" charset="0"/>
                <a:ea typeface="Public Sans" pitchFamily="34" charset="-122"/>
                <a:cs typeface="Public Sans" pitchFamily="34" charset="-120"/>
              </a:rPr>
              <a:t>Primary and foreign keys, UNIQUE constraints and validation rules keep records consistent and verify player eligibility.</a:t>
            </a:r>
            <a:endParaRPr lang="en-US" sz="1400" dirty="0"/>
          </a:p>
        </p:txBody>
      </p:sp>
      <p:sp>
        <p:nvSpPr>
          <p:cNvPr id="14" name="Text 12"/>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8A8"/>
                </a:solidFill>
                <a:latin typeface="Public Sans" pitchFamily="34" charset="0"/>
                <a:ea typeface="Public Sans" pitchFamily="34" charset="-122"/>
                <a:cs typeface="Public Sans" pitchFamily="34" charset="-120"/>
              </a:rPr>
              <a:t>These are targets for testing, not verified results; no manual-reporting baseline is claimed.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03 · BUSINESS RULES</a:t>
            </a:r>
            <a:endParaRPr lang="en-US" sz="1400" dirty="0"/>
          </a:p>
        </p:txBody>
      </p:sp>
      <p:sp>
        <p:nvSpPr>
          <p:cNvPr id="3" name="Text 1"/>
          <p:cNvSpPr>
            <a:spLocks noGrp="1"/>
          </p:cNvSpPr>
          <p:nvPr>
            <p:ph type="title"/>
          </p:nvPr>
        </p:nvSpPr>
        <p:spPr>
          <a:xfrm>
            <a:off x="812800" y="113792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26 RULES IN SEVEN AREAS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54201"/>
          <a:ext cx="10556241" cy="3495040"/>
        </p:xfrm>
        <a:graphic>
          <a:graphicData uri="http://schemas.openxmlformats.org/drawingml/2006/table">
            <a:tbl>
              <a:tblPr/>
              <a:tblGrid>
                <a:gridCol w="3589122">
                  <a:extLst>
                    <a:ext uri="{9D8B030D-6E8A-4147-A177-3AD203B41FA5}">
                      <a16:colId xmlns:a16="http://schemas.microsoft.com/office/drawing/2014/main" val="20000"/>
                    </a:ext>
                  </a:extLst>
                </a:gridCol>
                <a:gridCol w="1266749">
                  <a:extLst>
                    <a:ext uri="{9D8B030D-6E8A-4147-A177-3AD203B41FA5}">
                      <a16:colId xmlns:a16="http://schemas.microsoft.com/office/drawing/2014/main" val="20001"/>
                    </a:ext>
                  </a:extLst>
                </a:gridCol>
                <a:gridCol w="5700370">
                  <a:extLst>
                    <a:ext uri="{9D8B030D-6E8A-4147-A177-3AD203B41FA5}">
                      <a16:colId xmlns:a16="http://schemas.microsoft.com/office/drawing/2014/main" val="20002"/>
                    </a:ext>
                  </a:extLst>
                </a:gridCol>
              </a:tblGrid>
              <a:tr h="436880">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Area</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Rules</a:t>
                      </a:r>
                      <a:endParaRPr lang="en-US" sz="1600" dirty="0">
                        <a:latin typeface="Public Sans" charset="0"/>
                        <a:ea typeface="Public Sans" charset="0"/>
                        <a:cs typeface="Public Sans" charset="0"/>
                      </a:endParaRPr>
                    </a:p>
                  </a:txBody>
                  <a:tcPr marL="71120" marR="71120" marT="71120" marB="71120">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Enforced by</a:t>
                      </a:r>
                      <a:endParaRPr lang="en-US" sz="1600" dirty="0">
                        <a:latin typeface="Public Sans" charset="0"/>
                        <a:ea typeface="Public Sans" charset="0"/>
                        <a:cs typeface="Public Sans" charset="0"/>
                      </a:endParaRPr>
                    </a:p>
                  </a:txBody>
                  <a:tcPr marL="71120" marR="71120" marT="71120" marB="71120">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extLst>
                  <a:ext uri="{0D108BD9-81ED-4DB2-BD59-A6C34878D82A}">
                    <a16:rowId xmlns:a16="http://schemas.microsoft.com/office/drawing/2014/main" val="10000"/>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Players, age groups, positions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1–6</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FKs, CHECK, subtype triggers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Coaches, programs, sessions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7–10</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NOT NULL FKs, CHECK on times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2"/>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Parents and guardians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11–13</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Junction table, UNIQUE primary</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3"/>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Registration and enrollment</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14–17</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UNIQUE (player, class), trigger</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4"/>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Attendance</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18–21</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UNIQUE (player, session), CHECK</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5"/>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Age-group history</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22–23</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FKs, CHECK on date range</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6"/>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Integrity and reporting</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24–26</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Transaction, SQL, role-based access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Database constraints and triggers first; the Node.js/Express app adds validation and access control.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3355277"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04 · ERD</a:t>
            </a:r>
            <a:endParaRPr lang="en-US" sz="1400" dirty="0"/>
          </a:p>
        </p:txBody>
      </p:sp>
      <p:sp>
        <p:nvSpPr>
          <p:cNvPr id="3" name="Text 1"/>
          <p:cNvSpPr>
            <a:spLocks noGrp="1"/>
          </p:cNvSpPr>
          <p:nvPr>
            <p:ph type="title"/>
          </p:nvPr>
        </p:nvSpPr>
        <p:spPr>
          <a:xfrm>
            <a:off x="812800" y="1137921"/>
            <a:ext cx="3355277"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EER DIAGRAM</a:t>
            </a:r>
            <a:endParaRPr lang="en-US" sz="3600" dirty="0"/>
          </a:p>
        </p:txBody>
      </p:sp>
      <p:sp>
        <p:nvSpPr>
          <p:cNvPr id="4" name="Text 2"/>
          <p:cNvSpPr/>
          <p:nvPr/>
        </p:nvSpPr>
        <p:spPr>
          <a:xfrm>
            <a:off x="812800" y="1818639"/>
            <a:ext cx="3355277"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E4A42"/>
                </a:solidFill>
                <a:latin typeface="Public Sans" pitchFamily="34" charset="0"/>
                <a:ea typeface="Public Sans" pitchFamily="34" charset="-122"/>
                <a:cs typeface="Public Sans" pitchFamily="34" charset="-120"/>
              </a:rPr>
              <a:t>14 core entities</a:t>
            </a:r>
            <a:r>
              <a:rPr lang="en-US" sz="1500" dirty="0">
                <a:solidFill>
                  <a:srgbClr val="3E4A42"/>
                </a:solidFill>
                <a:latin typeface="Public Sans" pitchFamily="34" charset="0"/>
                <a:ea typeface="Public Sans" pitchFamily="34" charset="-122"/>
                <a:cs typeface="Public Sans" pitchFamily="34" charset="-120"/>
              </a:rPr>
              <a:t> in Chen notation with cardinality indicators.</a:t>
            </a:r>
            <a:endParaRPr lang="en-US" sz="1500" dirty="0"/>
          </a:p>
        </p:txBody>
      </p:sp>
      <p:sp>
        <p:nvSpPr>
          <p:cNvPr id="5" name="Text 3"/>
          <p:cNvSpPr/>
          <p:nvPr/>
        </p:nvSpPr>
        <p:spPr>
          <a:xfrm>
            <a:off x="812800" y="2529839"/>
            <a:ext cx="3355277" cy="8255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E4A42"/>
                </a:solidFill>
                <a:latin typeface="Public Sans" pitchFamily="34" charset="0"/>
                <a:ea typeface="Public Sans" pitchFamily="34" charset="-122"/>
                <a:cs typeface="Public Sans" pitchFamily="34" charset="-120"/>
              </a:rPr>
              <a:t>Associative entities:</a:t>
            </a:r>
            <a:r>
              <a:rPr lang="en-US" sz="1500" dirty="0">
                <a:solidFill>
                  <a:srgbClr val="3E4A42"/>
                </a:solidFill>
                <a:latin typeface="Public Sans" pitchFamily="34" charset="0"/>
                <a:ea typeface="Public Sans" pitchFamily="34" charset="-122"/>
                <a:cs typeface="Public Sans" pitchFamily="34" charset="-120"/>
              </a:rPr>
              <a:t> REGISTRATION, ATTENDANCE, PARENT_PLAYER.</a:t>
            </a:r>
            <a:endParaRPr lang="en-US" sz="1500" dirty="0"/>
          </a:p>
        </p:txBody>
      </p:sp>
      <p:sp>
        <p:nvSpPr>
          <p:cNvPr id="6" name="Text 4"/>
          <p:cNvSpPr/>
          <p:nvPr/>
        </p:nvSpPr>
        <p:spPr>
          <a:xfrm>
            <a:off x="812800" y="3507739"/>
            <a:ext cx="3355277" cy="10922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E4A42"/>
                </a:solidFill>
                <a:latin typeface="Public Sans" pitchFamily="34" charset="0"/>
                <a:ea typeface="Public Sans" pitchFamily="34" charset="-122"/>
                <a:cs typeface="Public Sans" pitchFamily="34" charset="-120"/>
              </a:rPr>
              <a:t>Specialization:</a:t>
            </a:r>
            <a:r>
              <a:rPr lang="en-US" sz="1500" dirty="0">
                <a:solidFill>
                  <a:srgbClr val="3E4A42"/>
                </a:solidFill>
                <a:latin typeface="Public Sans" pitchFamily="34" charset="0"/>
                <a:ea typeface="Public Sans" pitchFamily="34" charset="-122"/>
                <a:cs typeface="Public Sans" pitchFamily="34" charset="-120"/>
              </a:rPr>
              <a:t> POSITION into GOALKEEPER or OUTFIELD_PLAYER, disjoint and total.</a:t>
            </a:r>
            <a:endParaRPr lang="en-US" sz="1500" dirty="0"/>
          </a:p>
        </p:txBody>
      </p:sp>
      <p:sp>
        <p:nvSpPr>
          <p:cNvPr id="7" name="Shape 5"/>
          <p:cNvSpPr/>
          <p:nvPr/>
        </p:nvSpPr>
        <p:spPr>
          <a:xfrm>
            <a:off x="4476750" y="812800"/>
            <a:ext cx="6902450" cy="5232400"/>
          </a:xfrm>
          <a:prstGeom prst="roundRect">
            <a:avLst>
              <a:gd name="adj" fmla="val 1942"/>
            </a:avLst>
          </a:prstGeom>
          <a:solidFill>
            <a:srgbClr val="FFFFFF"/>
          </a:solidFill>
          <a:ln/>
        </p:spPr>
        <p:txBody>
          <a:bodyPr/>
          <a:lstStyle/>
          <a:p>
            <a:endParaRPr lang="en-TH"/>
          </a:p>
        </p:txBody>
      </p:sp>
      <p:pic>
        <p:nvPicPr>
          <p:cNvPr id="8" name="Image 0" descr="EER diagram of the Football Academy Management System in Chen notation"/>
          <p:cNvPicPr>
            <a:picLocks noChangeAspect="1"/>
          </p:cNvPicPr>
          <p:nvPr/>
        </p:nvPicPr>
        <p:blipFill>
          <a:blip r:embed="rId3"/>
          <a:srcRect l="-29" r="-29"/>
          <a:stretch/>
        </p:blipFill>
        <p:spPr>
          <a:xfrm>
            <a:off x="4483100" y="819150"/>
            <a:ext cx="6889750" cy="5219700"/>
          </a:xfrm>
          <a:prstGeom prst="roundRect">
            <a:avLst>
              <a:gd name="adj" fmla="val 1825"/>
            </a:avLst>
          </a:prstGeom>
        </p:spPr>
      </p:pic>
      <p:sp>
        <p:nvSpPr>
          <p:cNvPr id="9" name="Shape 6"/>
          <p:cNvSpPr/>
          <p:nvPr/>
        </p:nvSpPr>
        <p:spPr>
          <a:xfrm>
            <a:off x="4479925" y="815975"/>
            <a:ext cx="6896100" cy="5226050"/>
          </a:xfrm>
          <a:prstGeom prst="roundRect">
            <a:avLst>
              <a:gd name="adj" fmla="val 1883"/>
            </a:avLst>
          </a:prstGeom>
          <a:noFill/>
          <a:ln w="6350">
            <a:solidFill>
              <a:srgbClr val="DAD7C8"/>
            </a:solidFill>
            <a:prstDash val="solid"/>
          </a:ln>
        </p:spPr>
        <p:txBody>
          <a:bodyPr/>
          <a:lstStyle/>
          <a:p>
            <a:endParaRPr lang="en-TH"/>
          </a:p>
        </p:txBody>
      </p:sp>
      <p:sp>
        <p:nvSpPr>
          <p:cNvPr id="10" name="Text 7"/>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Figure: EER diagram of FAMS.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04 · TABLES</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14 CORE RELATIONS AND 2 SUPPORTING</a:t>
            </a:r>
            <a:endParaRPr lang="en-US" sz="3600" dirty="0"/>
          </a:p>
        </p:txBody>
      </p:sp>
      <p:sp>
        <p:nvSpPr>
          <p:cNvPr id="4" name="Shape 2"/>
          <p:cNvSpPr/>
          <p:nvPr/>
        </p:nvSpPr>
        <p:spPr>
          <a:xfrm>
            <a:off x="815975" y="1898014"/>
            <a:ext cx="5200650" cy="1263650"/>
          </a:xfrm>
          <a:prstGeom prst="roundRect">
            <a:avLst>
              <a:gd name="adj" fmla="val 7789"/>
            </a:avLst>
          </a:prstGeom>
          <a:solidFill>
            <a:srgbClr val="FBFAF5"/>
          </a:solidFill>
          <a:ln w="6350">
            <a:solidFill>
              <a:srgbClr val="DAD7C8"/>
            </a:solidFill>
            <a:prstDash val="solid"/>
          </a:ln>
        </p:spPr>
        <p:txBody>
          <a:bodyPr/>
          <a:lstStyle/>
          <a:p>
            <a:endParaRPr lang="en-TH"/>
          </a:p>
        </p:txBody>
      </p:sp>
      <p:sp>
        <p:nvSpPr>
          <p:cNvPr id="5" name="Text 3"/>
          <p:cNvSpPr/>
          <p:nvPr/>
        </p:nvSpPr>
        <p:spPr>
          <a:xfrm>
            <a:off x="1021080" y="2103121"/>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7A45"/>
                </a:solidFill>
                <a:latin typeface="Public Sans" pitchFamily="34" charset="0"/>
                <a:ea typeface="Public Sans" pitchFamily="34" charset="-122"/>
                <a:cs typeface="Public Sans" pitchFamily="34" charset="-120"/>
              </a:rPr>
              <a:t>Reference data</a:t>
            </a:r>
            <a:endParaRPr lang="en-US" sz="1600" dirty="0"/>
          </a:p>
        </p:txBody>
      </p:sp>
      <p:sp>
        <p:nvSpPr>
          <p:cNvPr id="6" name="Text 4"/>
          <p:cNvSpPr/>
          <p:nvPr/>
        </p:nvSpPr>
        <p:spPr>
          <a:xfrm>
            <a:off x="1021080" y="2423161"/>
            <a:ext cx="4934153"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E4A42"/>
                </a:solidFill>
                <a:latin typeface="Public Sans" pitchFamily="34" charset="0"/>
                <a:ea typeface="Public Sans" pitchFamily="34" charset="-122"/>
                <a:cs typeface="Public Sans" pitchFamily="34" charset="-120"/>
              </a:rPr>
              <a:t>age_group · coach · position · goalkeeper · outfield_player · training_program</a:t>
            </a:r>
            <a:endParaRPr lang="en-US" sz="1400" dirty="0"/>
          </a:p>
        </p:txBody>
      </p:sp>
      <p:sp>
        <p:nvSpPr>
          <p:cNvPr id="7" name="Shape 5"/>
          <p:cNvSpPr/>
          <p:nvPr/>
        </p:nvSpPr>
        <p:spPr>
          <a:xfrm>
            <a:off x="6175375" y="1898014"/>
            <a:ext cx="5200650" cy="1263650"/>
          </a:xfrm>
          <a:prstGeom prst="roundRect">
            <a:avLst>
              <a:gd name="adj" fmla="val 7789"/>
            </a:avLst>
          </a:prstGeom>
          <a:solidFill>
            <a:srgbClr val="FBFAF5"/>
          </a:solidFill>
          <a:ln w="6350">
            <a:solidFill>
              <a:srgbClr val="DAD7C8"/>
            </a:solidFill>
            <a:prstDash val="solid"/>
          </a:ln>
        </p:spPr>
        <p:txBody>
          <a:bodyPr/>
          <a:lstStyle/>
          <a:p>
            <a:endParaRPr lang="en-TH"/>
          </a:p>
        </p:txBody>
      </p:sp>
      <p:sp>
        <p:nvSpPr>
          <p:cNvPr id="8" name="Text 6"/>
          <p:cNvSpPr/>
          <p:nvPr/>
        </p:nvSpPr>
        <p:spPr>
          <a:xfrm>
            <a:off x="6380480" y="2103121"/>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7A45"/>
                </a:solidFill>
                <a:latin typeface="Public Sans" pitchFamily="34" charset="0"/>
                <a:ea typeface="Public Sans" pitchFamily="34" charset="-122"/>
                <a:cs typeface="Public Sans" pitchFamily="34" charset="-120"/>
              </a:rPr>
              <a:t>People</a:t>
            </a:r>
            <a:endParaRPr lang="en-US" sz="1600" dirty="0"/>
          </a:p>
        </p:txBody>
      </p:sp>
      <p:sp>
        <p:nvSpPr>
          <p:cNvPr id="9" name="Text 7"/>
          <p:cNvSpPr/>
          <p:nvPr/>
        </p:nvSpPr>
        <p:spPr>
          <a:xfrm>
            <a:off x="6380480" y="2423161"/>
            <a:ext cx="4934153"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E4A42"/>
                </a:solidFill>
                <a:latin typeface="Public Sans" pitchFamily="34" charset="0"/>
                <a:ea typeface="Public Sans" pitchFamily="34" charset="-122"/>
                <a:cs typeface="Public Sans" pitchFamily="34" charset="-120"/>
              </a:rPr>
              <a:t>player · parent · parent_player</a:t>
            </a:r>
            <a:endParaRPr lang="en-US" sz="1400" dirty="0"/>
          </a:p>
        </p:txBody>
      </p:sp>
      <p:sp>
        <p:nvSpPr>
          <p:cNvPr id="10" name="Shape 8"/>
          <p:cNvSpPr/>
          <p:nvPr/>
        </p:nvSpPr>
        <p:spPr>
          <a:xfrm>
            <a:off x="815975" y="3320414"/>
            <a:ext cx="5200650" cy="1263650"/>
          </a:xfrm>
          <a:prstGeom prst="roundRect">
            <a:avLst>
              <a:gd name="adj" fmla="val 7789"/>
            </a:avLst>
          </a:prstGeom>
          <a:solidFill>
            <a:srgbClr val="FBFAF5"/>
          </a:solidFill>
          <a:ln w="6350">
            <a:solidFill>
              <a:srgbClr val="DAD7C8"/>
            </a:solidFill>
            <a:prstDash val="solid"/>
          </a:ln>
        </p:spPr>
        <p:txBody>
          <a:bodyPr/>
          <a:lstStyle/>
          <a:p>
            <a:endParaRPr lang="en-TH"/>
          </a:p>
        </p:txBody>
      </p:sp>
      <p:sp>
        <p:nvSpPr>
          <p:cNvPr id="11" name="Text 9"/>
          <p:cNvSpPr/>
          <p:nvPr/>
        </p:nvSpPr>
        <p:spPr>
          <a:xfrm>
            <a:off x="1021080" y="3525521"/>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7A45"/>
                </a:solidFill>
                <a:latin typeface="Public Sans" pitchFamily="34" charset="0"/>
                <a:ea typeface="Public Sans" pitchFamily="34" charset="-122"/>
                <a:cs typeface="Public Sans" pitchFamily="34" charset="-120"/>
              </a:rPr>
              <a:t>Operations</a:t>
            </a:r>
            <a:endParaRPr lang="en-US" sz="1600" dirty="0"/>
          </a:p>
        </p:txBody>
      </p:sp>
      <p:sp>
        <p:nvSpPr>
          <p:cNvPr id="12" name="Text 10"/>
          <p:cNvSpPr/>
          <p:nvPr/>
        </p:nvSpPr>
        <p:spPr>
          <a:xfrm>
            <a:off x="1021080" y="3845561"/>
            <a:ext cx="4934153"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E4A42"/>
                </a:solidFill>
                <a:latin typeface="Public Sans" pitchFamily="34" charset="0"/>
                <a:ea typeface="Public Sans" pitchFamily="34" charset="-122"/>
                <a:cs typeface="Public Sans" pitchFamily="34" charset="-120"/>
              </a:rPr>
              <a:t>class · training_session · registration · attendance · player_age_group_history</a:t>
            </a:r>
            <a:endParaRPr lang="en-US" sz="1400" dirty="0"/>
          </a:p>
        </p:txBody>
      </p:sp>
      <p:sp>
        <p:nvSpPr>
          <p:cNvPr id="13" name="Shape 11"/>
          <p:cNvSpPr/>
          <p:nvPr/>
        </p:nvSpPr>
        <p:spPr>
          <a:xfrm>
            <a:off x="6172200" y="3317239"/>
            <a:ext cx="5207000" cy="1270000"/>
          </a:xfrm>
          <a:prstGeom prst="roundRect">
            <a:avLst>
              <a:gd name="adj" fmla="val 8000"/>
            </a:avLst>
          </a:prstGeom>
          <a:solidFill>
            <a:srgbClr val="0E2A1C"/>
          </a:solidFill>
          <a:ln/>
        </p:spPr>
        <p:txBody>
          <a:bodyPr/>
          <a:lstStyle/>
          <a:p>
            <a:endParaRPr lang="en-TH"/>
          </a:p>
        </p:txBody>
      </p:sp>
      <p:sp>
        <p:nvSpPr>
          <p:cNvPr id="14" name="Text 12"/>
          <p:cNvSpPr/>
          <p:nvPr/>
        </p:nvSpPr>
        <p:spPr>
          <a:xfrm>
            <a:off x="6375400" y="3520439"/>
            <a:ext cx="494461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C8F03C"/>
                </a:solidFill>
                <a:latin typeface="Public Sans" pitchFamily="34" charset="0"/>
                <a:ea typeface="Public Sans" pitchFamily="34" charset="-122"/>
                <a:cs typeface="Public Sans" pitchFamily="34" charset="-120"/>
              </a:rPr>
              <a:t>Supporting</a:t>
            </a:r>
            <a:endParaRPr lang="en-US" sz="1600" dirty="0"/>
          </a:p>
        </p:txBody>
      </p:sp>
      <p:sp>
        <p:nvSpPr>
          <p:cNvPr id="15" name="Text 13"/>
          <p:cNvSpPr/>
          <p:nvPr/>
        </p:nvSpPr>
        <p:spPr>
          <a:xfrm>
            <a:off x="6375400" y="3840482"/>
            <a:ext cx="494461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4EBE4"/>
                </a:solidFill>
                <a:latin typeface="Public Sans" pitchFamily="34" charset="0"/>
                <a:ea typeface="Public Sans" pitchFamily="34" charset="-122"/>
                <a:cs typeface="Public Sans" pitchFamily="34" charset="-120"/>
              </a:rPr>
              <a:t>app_user (login and roles) · age_group_recommendation</a:t>
            </a:r>
            <a:endParaRPr lang="en-US" sz="1400" dirty="0"/>
          </a:p>
        </p:txBody>
      </p:sp>
      <p:sp>
        <p:nvSpPr>
          <p:cNvPr id="16" name="Text 14"/>
          <p:cNvSpPr/>
          <p:nvPr/>
        </p:nvSpPr>
        <p:spPr>
          <a:xfrm>
            <a:off x="812800" y="4841239"/>
            <a:ext cx="98107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Primary keys, foreign keys, UNIQUE and CHECK constraints, and triggers maintain integrity. Capacity and access rules sit in the application.</a:t>
            </a:r>
            <a:endParaRPr lang="en-US" sz="140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MySQL 8+ · lowercase snake_case · schema in database/01_schema.sql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05 · NORMALIZATION</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FROM THREE FORMS TO BCNF</a:t>
            </a:r>
            <a:endParaRPr lang="en-US" sz="3600" dirty="0"/>
          </a:p>
        </p:txBody>
      </p:sp>
      <p:sp>
        <p:nvSpPr>
          <p:cNvPr id="4" name="Shape 2"/>
          <p:cNvSpPr/>
          <p:nvPr/>
        </p:nvSpPr>
        <p:spPr>
          <a:xfrm>
            <a:off x="815975" y="1898014"/>
            <a:ext cx="1986994" cy="1837690"/>
          </a:xfrm>
          <a:prstGeom prst="roundRect">
            <a:avLst>
              <a:gd name="adj" fmla="val 5356"/>
            </a:avLst>
          </a:prstGeom>
          <a:solidFill>
            <a:srgbClr val="FBFAF5"/>
          </a:solidFill>
          <a:ln w="6350">
            <a:solidFill>
              <a:srgbClr val="DAD7C8"/>
            </a:solidFill>
            <a:prstDash val="solid"/>
          </a:ln>
        </p:spPr>
        <p:txBody>
          <a:bodyPr/>
          <a:lstStyle/>
          <a:p>
            <a:endParaRPr lang="en-TH"/>
          </a:p>
        </p:txBody>
      </p:sp>
      <p:sp>
        <p:nvSpPr>
          <p:cNvPr id="5" name="Text 3"/>
          <p:cNvSpPr/>
          <p:nvPr/>
        </p:nvSpPr>
        <p:spPr>
          <a:xfrm>
            <a:off x="970280" y="2103121"/>
            <a:ext cx="1729184"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2261B"/>
                </a:solidFill>
                <a:latin typeface="Oswald" pitchFamily="34" charset="0"/>
                <a:ea typeface="Oswald" pitchFamily="34" charset="-122"/>
                <a:cs typeface="Oswald" pitchFamily="34" charset="-120"/>
              </a:rPr>
              <a:t>UNF</a:t>
            </a:r>
            <a:endParaRPr lang="en-US" sz="2800" dirty="0"/>
          </a:p>
        </p:txBody>
      </p:sp>
      <p:sp>
        <p:nvSpPr>
          <p:cNvPr id="6" name="Text 4"/>
          <p:cNvSpPr/>
          <p:nvPr/>
        </p:nvSpPr>
        <p:spPr>
          <a:xfrm>
            <a:off x="970280" y="2606039"/>
            <a:ext cx="1729184"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42"/>
                </a:solidFill>
                <a:latin typeface="Public Sans" pitchFamily="34" charset="0"/>
                <a:ea typeface="Public Sans" pitchFamily="34" charset="-122"/>
                <a:cs typeface="Public Sans" pitchFamily="34" charset="-120"/>
              </a:rPr>
              <a:t>Three business forms: enrollment, attendance and development</a:t>
            </a:r>
            <a:endParaRPr lang="en-US" sz="1300" dirty="0"/>
          </a:p>
        </p:txBody>
      </p:sp>
      <p:sp>
        <p:nvSpPr>
          <p:cNvPr id="7" name="Shape 5"/>
          <p:cNvSpPr/>
          <p:nvPr/>
        </p:nvSpPr>
        <p:spPr>
          <a:xfrm>
            <a:off x="2961719" y="1898014"/>
            <a:ext cx="1987074" cy="1837690"/>
          </a:xfrm>
          <a:prstGeom prst="roundRect">
            <a:avLst>
              <a:gd name="adj" fmla="val 5356"/>
            </a:avLst>
          </a:prstGeom>
          <a:solidFill>
            <a:srgbClr val="FBFAF5"/>
          </a:solidFill>
          <a:ln w="6350">
            <a:solidFill>
              <a:srgbClr val="DAD7C8"/>
            </a:solidFill>
            <a:prstDash val="solid"/>
          </a:ln>
        </p:spPr>
        <p:txBody>
          <a:bodyPr/>
          <a:lstStyle/>
          <a:p>
            <a:endParaRPr lang="en-TH"/>
          </a:p>
        </p:txBody>
      </p:sp>
      <p:sp>
        <p:nvSpPr>
          <p:cNvPr id="8" name="Text 6"/>
          <p:cNvSpPr/>
          <p:nvPr/>
        </p:nvSpPr>
        <p:spPr>
          <a:xfrm>
            <a:off x="3116024" y="2103121"/>
            <a:ext cx="1729264"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2261B"/>
                </a:solidFill>
                <a:latin typeface="Oswald" pitchFamily="34" charset="0"/>
                <a:ea typeface="Oswald" pitchFamily="34" charset="-122"/>
                <a:cs typeface="Oswald" pitchFamily="34" charset="-120"/>
              </a:rPr>
              <a:t>1NF</a:t>
            </a:r>
            <a:endParaRPr lang="en-US" sz="2800" dirty="0"/>
          </a:p>
        </p:txBody>
      </p:sp>
      <p:sp>
        <p:nvSpPr>
          <p:cNvPr id="9" name="Text 7"/>
          <p:cNvSpPr/>
          <p:nvPr/>
        </p:nvSpPr>
        <p:spPr>
          <a:xfrm>
            <a:off x="3116024" y="2606039"/>
            <a:ext cx="1729264"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42"/>
                </a:solidFill>
                <a:latin typeface="Public Sans" pitchFamily="34" charset="0"/>
                <a:ea typeface="Public Sans" pitchFamily="34" charset="-122"/>
                <a:cs typeface="Public Sans" pitchFamily="34" charset="-120"/>
              </a:rPr>
              <a:t>Each repeating group becomes its own relation</a:t>
            </a:r>
            <a:endParaRPr lang="en-US" sz="1300" dirty="0"/>
          </a:p>
        </p:txBody>
      </p:sp>
      <p:sp>
        <p:nvSpPr>
          <p:cNvPr id="10" name="Shape 8"/>
          <p:cNvSpPr/>
          <p:nvPr/>
        </p:nvSpPr>
        <p:spPr>
          <a:xfrm>
            <a:off x="5107543" y="1898014"/>
            <a:ext cx="1986994" cy="1837690"/>
          </a:xfrm>
          <a:prstGeom prst="roundRect">
            <a:avLst>
              <a:gd name="adj" fmla="val 5356"/>
            </a:avLst>
          </a:prstGeom>
          <a:solidFill>
            <a:srgbClr val="FBFAF5"/>
          </a:solidFill>
          <a:ln w="6350">
            <a:solidFill>
              <a:srgbClr val="DAD7C8"/>
            </a:solidFill>
            <a:prstDash val="solid"/>
          </a:ln>
        </p:spPr>
        <p:txBody>
          <a:bodyPr/>
          <a:lstStyle/>
          <a:p>
            <a:endParaRPr lang="en-TH"/>
          </a:p>
        </p:txBody>
      </p:sp>
      <p:sp>
        <p:nvSpPr>
          <p:cNvPr id="11" name="Text 9"/>
          <p:cNvSpPr/>
          <p:nvPr/>
        </p:nvSpPr>
        <p:spPr>
          <a:xfrm>
            <a:off x="5261848" y="2103121"/>
            <a:ext cx="1729184"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2261B"/>
                </a:solidFill>
                <a:latin typeface="Oswald" pitchFamily="34" charset="0"/>
                <a:ea typeface="Oswald" pitchFamily="34" charset="-122"/>
                <a:cs typeface="Oswald" pitchFamily="34" charset="-120"/>
              </a:rPr>
              <a:t>2NF</a:t>
            </a:r>
            <a:endParaRPr lang="en-US" sz="2800" dirty="0"/>
          </a:p>
        </p:txBody>
      </p:sp>
      <p:sp>
        <p:nvSpPr>
          <p:cNvPr id="12" name="Text 10"/>
          <p:cNvSpPr/>
          <p:nvPr/>
        </p:nvSpPr>
        <p:spPr>
          <a:xfrm>
            <a:off x="5261848" y="2606039"/>
            <a:ext cx="1729184"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42"/>
                </a:solidFill>
                <a:latin typeface="Public Sans" pitchFamily="34" charset="0"/>
                <a:ea typeface="Public Sans" pitchFamily="34" charset="-122"/>
                <a:cs typeface="Public Sans" pitchFamily="34" charset="-120"/>
              </a:rPr>
              <a:t>Partial dependencies removed: guardian details move to PARENT</a:t>
            </a:r>
            <a:endParaRPr lang="en-US" sz="1300" dirty="0"/>
          </a:p>
        </p:txBody>
      </p:sp>
      <p:sp>
        <p:nvSpPr>
          <p:cNvPr id="13" name="Shape 11"/>
          <p:cNvSpPr/>
          <p:nvPr/>
        </p:nvSpPr>
        <p:spPr>
          <a:xfrm>
            <a:off x="7253288" y="1898014"/>
            <a:ext cx="1987074" cy="1837690"/>
          </a:xfrm>
          <a:prstGeom prst="roundRect">
            <a:avLst>
              <a:gd name="adj" fmla="val 5356"/>
            </a:avLst>
          </a:prstGeom>
          <a:solidFill>
            <a:srgbClr val="FBFAF5"/>
          </a:solidFill>
          <a:ln w="6350">
            <a:solidFill>
              <a:srgbClr val="DAD7C8"/>
            </a:solidFill>
            <a:prstDash val="solid"/>
          </a:ln>
        </p:spPr>
        <p:txBody>
          <a:bodyPr/>
          <a:lstStyle/>
          <a:p>
            <a:endParaRPr lang="en-TH"/>
          </a:p>
        </p:txBody>
      </p:sp>
      <p:sp>
        <p:nvSpPr>
          <p:cNvPr id="14" name="Text 12"/>
          <p:cNvSpPr/>
          <p:nvPr/>
        </p:nvSpPr>
        <p:spPr>
          <a:xfrm>
            <a:off x="7407593" y="2103121"/>
            <a:ext cx="1729264"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12261B"/>
                </a:solidFill>
                <a:latin typeface="Oswald" pitchFamily="34" charset="0"/>
                <a:ea typeface="Oswald" pitchFamily="34" charset="-122"/>
                <a:cs typeface="Oswald" pitchFamily="34" charset="-120"/>
              </a:rPr>
              <a:t>3NF</a:t>
            </a:r>
            <a:endParaRPr lang="en-US" sz="2800" dirty="0"/>
          </a:p>
        </p:txBody>
      </p:sp>
      <p:sp>
        <p:nvSpPr>
          <p:cNvPr id="15" name="Text 13"/>
          <p:cNvSpPr/>
          <p:nvPr/>
        </p:nvSpPr>
        <p:spPr>
          <a:xfrm>
            <a:off x="7407593" y="2606039"/>
            <a:ext cx="1729264"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42"/>
                </a:solidFill>
                <a:latin typeface="Public Sans" pitchFamily="34" charset="0"/>
                <a:ea typeface="Public Sans" pitchFamily="34" charset="-122"/>
                <a:cs typeface="Public Sans" pitchFamily="34" charset="-120"/>
              </a:rPr>
              <a:t>Transitive dependencies extracted into 14 relations</a:t>
            </a:r>
            <a:endParaRPr lang="en-US" sz="1300" dirty="0"/>
          </a:p>
        </p:txBody>
      </p:sp>
      <p:sp>
        <p:nvSpPr>
          <p:cNvPr id="16" name="Shape 14"/>
          <p:cNvSpPr/>
          <p:nvPr/>
        </p:nvSpPr>
        <p:spPr>
          <a:xfrm>
            <a:off x="9395937" y="1894839"/>
            <a:ext cx="1983264" cy="1844040"/>
          </a:xfrm>
          <a:prstGeom prst="roundRect">
            <a:avLst>
              <a:gd name="adj" fmla="val 5510"/>
            </a:avLst>
          </a:prstGeom>
          <a:solidFill>
            <a:srgbClr val="0E2A1C"/>
          </a:solidFill>
          <a:ln/>
        </p:spPr>
        <p:txBody>
          <a:bodyPr/>
          <a:lstStyle/>
          <a:p>
            <a:endParaRPr lang="en-TH"/>
          </a:p>
        </p:txBody>
      </p:sp>
      <p:sp>
        <p:nvSpPr>
          <p:cNvPr id="17" name="Shape 15"/>
          <p:cNvSpPr/>
          <p:nvPr/>
        </p:nvSpPr>
        <p:spPr>
          <a:xfrm>
            <a:off x="9395937" y="1894839"/>
            <a:ext cx="1983264" cy="1844040"/>
          </a:xfrm>
          <a:custGeom>
            <a:avLst/>
            <a:gdLst/>
            <a:ahLst/>
            <a:cxnLst/>
            <a:rect l="l" t="t" r="r" b="b"/>
            <a:pathLst>
              <a:path w="1983264" h="1844040">
                <a:moveTo>
                  <a:pt x="0" y="101600"/>
                </a:moveTo>
                <a:lnTo>
                  <a:pt x="0" y="101600"/>
                </a:lnTo>
                <a:arcTo wR="101600" hR="101600" stAng="10800000" swAng="5400000"/>
                <a:lnTo>
                  <a:pt x="1881664" y="0"/>
                </a:lnTo>
                <a:arcTo wR="101600" hR="101600" stAng="16200000" swAng="5400000"/>
                <a:lnTo>
                  <a:pt x="1983264" y="101600"/>
                </a:lnTo>
                <a:arcTo wR="101600" hR="50800" stAng="0" swAng="-5400000"/>
                <a:lnTo>
                  <a:pt x="101600" y="50800"/>
                </a:lnTo>
                <a:arcTo wR="101600" hR="50800" stAng="16200000" swAng="-5400000"/>
                <a:close/>
              </a:path>
            </a:pathLst>
          </a:custGeom>
          <a:solidFill>
            <a:srgbClr val="C8F03C"/>
          </a:solidFill>
          <a:ln/>
        </p:spPr>
        <p:txBody>
          <a:bodyPr/>
          <a:lstStyle/>
          <a:p>
            <a:endParaRPr lang="en-TH"/>
          </a:p>
        </p:txBody>
      </p:sp>
      <p:sp>
        <p:nvSpPr>
          <p:cNvPr id="18" name="Text 16"/>
          <p:cNvSpPr/>
          <p:nvPr/>
        </p:nvSpPr>
        <p:spPr>
          <a:xfrm>
            <a:off x="9548337" y="2148839"/>
            <a:ext cx="1729264" cy="452120"/>
          </a:xfrm>
          <a:prstGeom prst="rect">
            <a:avLst/>
          </a:prstGeom>
          <a:noFill/>
          <a:ln/>
        </p:spPr>
        <p:txBody>
          <a:bodyPr wrap="square" lIns="0" tIns="0" rIns="0" bIns="0" rtlCol="0" anchor="t">
            <a:normAutofit/>
          </a:bodyPr>
          <a:lstStyle/>
          <a:p>
            <a:pPr marL="0" indent="0" algn="l">
              <a:lnSpc>
                <a:spcPts val="3360"/>
              </a:lnSpc>
              <a:buNone/>
            </a:pPr>
            <a:r>
              <a:rPr lang="en-US" sz="2800" b="1" dirty="0">
                <a:solidFill>
                  <a:srgbClr val="C8F03C"/>
                </a:solidFill>
                <a:latin typeface="Oswald" pitchFamily="34" charset="0"/>
                <a:ea typeface="Oswald" pitchFamily="34" charset="-122"/>
                <a:cs typeface="Oswald" pitchFamily="34" charset="-120"/>
              </a:rPr>
              <a:t>BCNF</a:t>
            </a:r>
            <a:endParaRPr lang="en-US" sz="2800" dirty="0"/>
          </a:p>
        </p:txBody>
      </p:sp>
      <p:sp>
        <p:nvSpPr>
          <p:cNvPr id="19" name="Text 17"/>
          <p:cNvSpPr/>
          <p:nvPr/>
        </p:nvSpPr>
        <p:spPr>
          <a:xfrm>
            <a:off x="9548337" y="2651761"/>
            <a:ext cx="1729264"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4EBE4"/>
                </a:solidFill>
                <a:latin typeface="Public Sans" pitchFamily="34" charset="0"/>
                <a:ea typeface="Public Sans" pitchFamily="34" charset="-122"/>
                <a:cs typeface="Public Sans" pitchFamily="34" charset="-120"/>
              </a:rPr>
              <a:t>Every non-trivial determinant is a candidate key</a:t>
            </a:r>
            <a:endParaRPr lang="en-US" sz="1300" dirty="0"/>
          </a:p>
        </p:txBody>
      </p:sp>
      <p:sp>
        <p:nvSpPr>
          <p:cNvPr id="20" name="Shape 18"/>
          <p:cNvSpPr/>
          <p:nvPr/>
        </p:nvSpPr>
        <p:spPr>
          <a:xfrm>
            <a:off x="815975" y="3996057"/>
            <a:ext cx="10560050" cy="958850"/>
          </a:xfrm>
          <a:prstGeom prst="roundRect">
            <a:avLst>
              <a:gd name="adj" fmla="val 10265"/>
            </a:avLst>
          </a:prstGeom>
          <a:solidFill>
            <a:srgbClr val="FBFAF5"/>
          </a:solidFill>
          <a:ln w="6350">
            <a:solidFill>
              <a:srgbClr val="DAD7C8"/>
            </a:solidFill>
            <a:prstDash val="solid"/>
          </a:ln>
        </p:spPr>
        <p:txBody>
          <a:bodyPr/>
          <a:lstStyle/>
          <a:p>
            <a:endParaRPr lang="en-TH"/>
          </a:p>
        </p:txBody>
      </p:sp>
      <p:sp>
        <p:nvSpPr>
          <p:cNvPr id="21" name="Text 19"/>
          <p:cNvSpPr/>
          <p:nvPr/>
        </p:nvSpPr>
        <p:spPr>
          <a:xfrm>
            <a:off x="1021080" y="4201161"/>
            <a:ext cx="10454335"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7A45"/>
                </a:solidFill>
                <a:latin typeface="Public Sans" pitchFamily="34" charset="0"/>
                <a:ea typeface="Public Sans" pitchFamily="34" charset="-122"/>
                <a:cs typeface="Public Sans" pitchFamily="34" charset="-120"/>
              </a:rPr>
              <a:t>EXAMPLE DEPENDENCY</a:t>
            </a:r>
            <a:endParaRPr lang="en-US" sz="1200" dirty="0"/>
          </a:p>
        </p:txBody>
      </p:sp>
      <p:sp>
        <p:nvSpPr>
          <p:cNvPr id="22" name="Text 20"/>
          <p:cNvSpPr/>
          <p:nvPr/>
        </p:nvSpPr>
        <p:spPr>
          <a:xfrm>
            <a:off x="1021080" y="4465321"/>
            <a:ext cx="10454335"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2261B"/>
                </a:solidFill>
                <a:latin typeface="Public Sans" pitchFamily="34" charset="0"/>
                <a:ea typeface="Public Sans" pitchFamily="34" charset="-122"/>
                <a:cs typeface="Public Sans" pitchFamily="34" charset="-120"/>
              </a:rPr>
              <a:t>age_group_id determines group_name, min_age, max_age, so we extract </a:t>
            </a:r>
            <a:r>
              <a:rPr lang="en-US" sz="1600" b="1" dirty="0">
                <a:solidFill>
                  <a:srgbClr val="12261B"/>
                </a:solidFill>
                <a:latin typeface="Public Sans" pitchFamily="34" charset="0"/>
                <a:ea typeface="Public Sans" pitchFamily="34" charset="-122"/>
                <a:cs typeface="Public Sans" pitchFamily="34" charset="-120"/>
              </a:rPr>
              <a:t>AGE_GROUP</a:t>
            </a:r>
            <a:r>
              <a:rPr lang="en-US" sz="1600" dirty="0">
                <a:solidFill>
                  <a:srgbClr val="12261B"/>
                </a:solidFill>
                <a:latin typeface="Public Sans" pitchFamily="34" charset="0"/>
                <a:ea typeface="Public Sans" pitchFamily="34" charset="-122"/>
                <a:cs typeface="Public Sans" pitchFamily="34" charset="-120"/>
              </a:rPr>
              <a:t>.</a:t>
            </a:r>
            <a:endParaRPr lang="en-US" sz="1600" dirty="0"/>
          </a:p>
        </p:txBody>
      </p:sp>
      <p:sp>
        <p:nvSpPr>
          <p:cNvPr id="23" name="Text 21"/>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Constraints, triggers and application checks complement normalization; they are not normalization steps.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06 · MAPPING</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EER TO RELATIONAL SCHEMA</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54199"/>
          <a:ext cx="10556241" cy="2684780"/>
        </p:xfrm>
        <a:graphic>
          <a:graphicData uri="http://schemas.openxmlformats.org/drawingml/2006/table">
            <a:tbl>
              <a:tblPr/>
              <a:tblGrid>
                <a:gridCol w="1477874">
                  <a:extLst>
                    <a:ext uri="{9D8B030D-6E8A-4147-A177-3AD203B41FA5}">
                      <a16:colId xmlns:a16="http://schemas.microsoft.com/office/drawing/2014/main" val="20000"/>
                    </a:ext>
                  </a:extLst>
                </a:gridCol>
                <a:gridCol w="3589122">
                  <a:extLst>
                    <a:ext uri="{9D8B030D-6E8A-4147-A177-3AD203B41FA5}">
                      <a16:colId xmlns:a16="http://schemas.microsoft.com/office/drawing/2014/main" val="20001"/>
                    </a:ext>
                  </a:extLst>
                </a:gridCol>
                <a:gridCol w="5489245">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261B"/>
                          </a:solidFill>
                          <a:latin typeface="Public Sans" pitchFamily="34" charset="0"/>
                          <a:ea typeface="Public Sans" pitchFamily="34" charset="-122"/>
                          <a:cs typeface="Public Sans" pitchFamily="34" charset="-120"/>
                        </a:rPr>
                        <a:t>Step</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marL="0" indent="0">
                        <a:lnSpc>
                          <a:spcPts val="1960"/>
                        </a:lnSpc>
                        <a:buNone/>
                      </a:pPr>
                      <a:r>
                        <a:rPr lang="en-US" sz="1400" b="1" dirty="0">
                          <a:solidFill>
                            <a:srgbClr val="12261B"/>
                          </a:solidFill>
                          <a:latin typeface="Public Sans" pitchFamily="34" charset="0"/>
                          <a:ea typeface="Public Sans" pitchFamily="34" charset="-122"/>
                          <a:cs typeface="Public Sans" pitchFamily="34" charset="-120"/>
                        </a:rPr>
                        <a:t>EER construct</a:t>
                      </a:r>
                      <a:endParaRPr lang="en-US" sz="1400" dirty="0">
                        <a:latin typeface="Public Sans" charset="0"/>
                        <a:ea typeface="Public Sans" charset="0"/>
                        <a:cs typeface="Public Sans" charset="0"/>
                      </a:endParaRPr>
                    </a:p>
                  </a:txBody>
                  <a:tcPr marL="62230" marR="62230" marT="62230" marB="62230">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marL="0" indent="0">
                        <a:lnSpc>
                          <a:spcPts val="1960"/>
                        </a:lnSpc>
                        <a:buNone/>
                      </a:pPr>
                      <a:r>
                        <a:rPr lang="en-US" sz="1400" b="1" dirty="0">
                          <a:solidFill>
                            <a:srgbClr val="12261B"/>
                          </a:solidFill>
                          <a:latin typeface="Public Sans" pitchFamily="34" charset="0"/>
                          <a:ea typeface="Public Sans" pitchFamily="34" charset="-122"/>
                          <a:cs typeface="Public Sans" pitchFamily="34" charset="-120"/>
                        </a:rPr>
                        <a:t>Result</a:t>
                      </a:r>
                      <a:endParaRPr lang="en-US" sz="1400" dirty="0">
                        <a:latin typeface="Public Sans" charset="0"/>
                        <a:ea typeface="Public Sans" charset="0"/>
                        <a:cs typeface="Public Sans" charset="0"/>
                      </a:endParaRPr>
                    </a:p>
                  </a:txBody>
                  <a:tcPr marL="62230" marR="62230" marT="62230" marB="62230">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1</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Regular entities</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One table per entity (7)</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4</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Binary 1:N</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Foreign key on the N side</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5</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Binary M:N</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PARENT_PLAYER, REGISTRATION, ATTENDANCE</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8</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Specialization</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Option 8A: superclass and subtype tables</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2, 3, 6, 7, 9</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Weak, 1:1, multivalued, n-ary, union</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Not required in this model</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Extra</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Supporting features</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1960"/>
                        </a:lnSpc>
                        <a:buNone/>
                      </a:pPr>
                      <a:r>
                        <a:rPr lang="en-US" sz="1400" dirty="0">
                          <a:solidFill>
                            <a:srgbClr val="12261B"/>
                          </a:solidFill>
                          <a:latin typeface="Public Sans" pitchFamily="34" charset="0"/>
                          <a:ea typeface="Public Sans" pitchFamily="34" charset="-122"/>
                          <a:cs typeface="Public Sans" pitchFamily="34" charset="-120"/>
                        </a:rPr>
                        <a:t>APP_USER, AGE_GROUP_RECOMMENDATION</a:t>
                      </a:r>
                      <a:endParaRPr lang="en-US" sz="1400" dirty="0">
                        <a:latin typeface="Public Sans" charset="0"/>
                        <a:ea typeface="Public Sans" charset="0"/>
                        <a:cs typeface="Public Sans" charset="0"/>
                      </a:endParaRPr>
                    </a:p>
                  </a:txBody>
                  <a:tcPr marL="62230" marR="62230" marT="62230" marB="6223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812800" y="4742179"/>
            <a:ext cx="10566400" cy="868680"/>
          </a:xfrm>
          <a:prstGeom prst="roundRect">
            <a:avLst>
              <a:gd name="adj" fmla="val 11696"/>
            </a:avLst>
          </a:prstGeom>
          <a:solidFill>
            <a:srgbClr val="0E2A1C"/>
          </a:solidFill>
          <a:ln/>
        </p:spPr>
        <p:txBody>
          <a:bodyPr/>
          <a:lstStyle/>
          <a:p>
            <a:endParaRPr lang="en-TH"/>
          </a:p>
        </p:txBody>
      </p:sp>
      <p:sp>
        <p:nvSpPr>
          <p:cNvPr id="6" name="Text 3"/>
          <p:cNvSpPr/>
          <p:nvPr/>
        </p:nvSpPr>
        <p:spPr>
          <a:xfrm>
            <a:off x="1016000" y="4919979"/>
            <a:ext cx="1046480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8F03C"/>
                </a:solidFill>
                <a:latin typeface="Public Sans" pitchFamily="34" charset="0"/>
                <a:ea typeface="Public Sans" pitchFamily="34" charset="-122"/>
                <a:cs typeface="Public Sans" pitchFamily="34" charset="-120"/>
              </a:rPr>
              <a:t>WHY OPTION 8A</a:t>
            </a:r>
            <a:endParaRPr lang="en-US" sz="1200" dirty="0"/>
          </a:p>
        </p:txBody>
      </p:sp>
      <p:sp>
        <p:nvSpPr>
          <p:cNvPr id="7" name="Text 4"/>
          <p:cNvSpPr/>
          <p:nvPr/>
        </p:nvSpPr>
        <p:spPr>
          <a:xfrm>
            <a:off x="1016000" y="5184142"/>
            <a:ext cx="10464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4EBE4"/>
                </a:solidFill>
                <a:latin typeface="Public Sans" pitchFamily="34" charset="0"/>
                <a:ea typeface="Public Sans" pitchFamily="34" charset="-122"/>
                <a:cs typeface="Public Sans" pitchFamily="34" charset="-120"/>
              </a:rPr>
              <a:t>It mirrors the EER and keeps subtype attributes apart without NULLs. The cost is extra JOINs and validation.</a:t>
            </a:r>
            <a:endParaRPr lang="en-US" sz="14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Nine-step mapping algorithm (Elmasri and Navathe).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07 · DDL</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CONSTRAINTS THAT ENFORCE THE RULES</a:t>
            </a:r>
            <a:endParaRPr lang="en-US" sz="3600" dirty="0"/>
          </a:p>
        </p:txBody>
      </p:sp>
      <p:sp>
        <p:nvSpPr>
          <p:cNvPr id="4" name="Text 2"/>
          <p:cNvSpPr/>
          <p:nvPr/>
        </p:nvSpPr>
        <p:spPr>
          <a:xfrm>
            <a:off x="812800" y="1844042"/>
            <a:ext cx="5207000" cy="2870200"/>
          </a:xfrm>
          <a:prstGeom prst="roundRect">
            <a:avLst>
              <a:gd name="adj" fmla="val 3540"/>
            </a:avLst>
          </a:prstGeom>
          <a:solidFill>
            <a:srgbClr val="0E2A1C"/>
          </a:solidFill>
          <a:ln/>
        </p:spPr>
        <p:txBody>
          <a:bodyPr wrap="square" lIns="148042" tIns="148042" rIns="2500" bIns="122642" rtlCol="0" anchor="t">
            <a:normAutofit/>
          </a:bodyPr>
          <a:lstStyle/>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CREATE TABLE class (</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class_id INT AUTO_INCREMENT</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PRIMARY KEY,</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class_name VARCHAR(120) NOT NULL,</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coach_id INT NOT NULL,</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program_id INT NOT NULL,</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age_group_id INT NOT NULL,</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capacity INT NOT NULL DEFAULT 30,</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 FKs: coach, program, age group */</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CHECK (capacity &gt; 0)</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a:t>
            </a:r>
            <a:endParaRPr lang="en-US" sz="1200" dirty="0"/>
          </a:p>
        </p:txBody>
      </p:sp>
      <p:sp>
        <p:nvSpPr>
          <p:cNvPr id="5" name="Text 3"/>
          <p:cNvSpPr/>
          <p:nvPr/>
        </p:nvSpPr>
        <p:spPr>
          <a:xfrm>
            <a:off x="812800" y="4815842"/>
            <a:ext cx="536321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42"/>
                </a:solidFill>
                <a:latin typeface="Public Sans" pitchFamily="34" charset="0"/>
                <a:ea typeface="Public Sans" pitchFamily="34" charset="-122"/>
                <a:cs typeface="Public Sans" pitchFamily="34" charset="-120"/>
              </a:rPr>
              <a:t>Rules 2, 7, 8:</a:t>
            </a:r>
            <a:r>
              <a:rPr lang="en-US" sz="1400" dirty="0">
                <a:solidFill>
                  <a:srgbClr val="3E4A42"/>
                </a:solidFill>
                <a:latin typeface="Public Sans" pitchFamily="34" charset="0"/>
                <a:ea typeface="Public Sans" pitchFamily="34" charset="-122"/>
                <a:cs typeface="Public Sans" pitchFamily="34" charset="-120"/>
              </a:rPr>
              <a:t> one coach, program and age group per class.</a:t>
            </a:r>
            <a:endParaRPr lang="en-US" sz="1400" dirty="0"/>
          </a:p>
        </p:txBody>
      </p:sp>
      <p:sp>
        <p:nvSpPr>
          <p:cNvPr id="6" name="Text 4"/>
          <p:cNvSpPr/>
          <p:nvPr/>
        </p:nvSpPr>
        <p:spPr>
          <a:xfrm>
            <a:off x="6172200" y="1844042"/>
            <a:ext cx="5207000" cy="3098800"/>
          </a:xfrm>
          <a:prstGeom prst="roundRect">
            <a:avLst>
              <a:gd name="adj" fmla="val 3279"/>
            </a:avLst>
          </a:prstGeom>
          <a:solidFill>
            <a:srgbClr val="0E2A1C"/>
          </a:solidFill>
          <a:ln/>
        </p:spPr>
        <p:txBody>
          <a:bodyPr wrap="square" lIns="148042" tIns="148042" rIns="2500" bIns="122642" rtlCol="0" anchor="t">
            <a:normAutofit/>
          </a:bodyPr>
          <a:lstStyle/>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CREATE TABLE registration (</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registration_id INT AUTO_INCREMENT</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PRIMARY KEY,</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player_id INT NOT NULL,</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class_id INT NOT NULL,</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registration_date DATE NOT NULL,</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status ENUM('Active','Pending',</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'Cancelled','Completed')</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NOT NULL DEFAULT 'Active',</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UNIQUE (player_id, class_id)</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 FKs: player, class */</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a:t>
            </a:r>
            <a:endParaRPr lang="en-US" sz="1200" dirty="0"/>
          </a:p>
        </p:txBody>
      </p:sp>
      <p:sp>
        <p:nvSpPr>
          <p:cNvPr id="7" name="Text 5"/>
          <p:cNvSpPr/>
          <p:nvPr/>
        </p:nvSpPr>
        <p:spPr>
          <a:xfrm>
            <a:off x="6172200" y="5044442"/>
            <a:ext cx="536321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42"/>
                </a:solidFill>
                <a:latin typeface="Public Sans" pitchFamily="34" charset="0"/>
                <a:ea typeface="Public Sans" pitchFamily="34" charset="-122"/>
                <a:cs typeface="Public Sans" pitchFamily="34" charset="-120"/>
              </a:rPr>
              <a:t>Rule 15:</a:t>
            </a:r>
            <a:r>
              <a:rPr lang="en-US" sz="1400" dirty="0">
                <a:solidFill>
                  <a:srgbClr val="3E4A42"/>
                </a:solidFill>
                <a:latin typeface="Public Sans" pitchFamily="34" charset="0"/>
                <a:ea typeface="Public Sans" pitchFamily="34" charset="-122"/>
                <a:cs typeface="Public Sans" pitchFamily="34" charset="-120"/>
              </a:rPr>
              <a:t> a player registers for a class only once.</a:t>
            </a:r>
            <a:endParaRPr lang="en-US" sz="1400" dirty="0"/>
          </a:p>
        </p:txBody>
      </p:sp>
      <p:sp>
        <p:nvSpPr>
          <p:cNvPr id="8" name="Text 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Shortened excerpts; full DDL in database/01_schema.sql.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A1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8F03C"/>
                </a:solidFill>
                <a:latin typeface="Public Sans" pitchFamily="34" charset="0"/>
                <a:ea typeface="Public Sans" pitchFamily="34" charset="-122"/>
                <a:cs typeface="Public Sans" pitchFamily="34" charset="-120"/>
              </a:rPr>
              <a:t>07 · DML</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A"/>
                </a:solidFill>
                <a:latin typeface="Oswald" pitchFamily="34" charset="0"/>
                <a:ea typeface="Oswald" pitchFamily="34" charset="-122"/>
                <a:cs typeface="Oswald" pitchFamily="34" charset="-120"/>
              </a:rPr>
              <a:t>REGISTERING A PLAYER, ATOMICALLY</a:t>
            </a:r>
            <a:endParaRPr lang="en-US" sz="3600" dirty="0"/>
          </a:p>
        </p:txBody>
      </p:sp>
      <p:sp>
        <p:nvSpPr>
          <p:cNvPr id="4" name="Text 2"/>
          <p:cNvSpPr/>
          <p:nvPr/>
        </p:nvSpPr>
        <p:spPr>
          <a:xfrm>
            <a:off x="812800" y="1869442"/>
            <a:ext cx="35560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C8F03C"/>
                </a:solidFill>
                <a:latin typeface="Oswald" pitchFamily="34" charset="0"/>
                <a:ea typeface="Oswald" pitchFamily="34" charset="-122"/>
                <a:cs typeface="Oswald" pitchFamily="34" charset="-120"/>
              </a:rPr>
              <a:t>1</a:t>
            </a:r>
            <a:endParaRPr lang="en-US" sz="2400" dirty="0"/>
          </a:p>
        </p:txBody>
      </p:sp>
      <p:sp>
        <p:nvSpPr>
          <p:cNvPr id="5" name="Text 3"/>
          <p:cNvSpPr/>
          <p:nvPr/>
        </p:nvSpPr>
        <p:spPr>
          <a:xfrm>
            <a:off x="1244600" y="1869442"/>
            <a:ext cx="525856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4EBE4"/>
                </a:solidFill>
                <a:latin typeface="Public Sans" pitchFamily="34" charset="0"/>
                <a:ea typeface="Public Sans" pitchFamily="34" charset="-122"/>
                <a:cs typeface="Public Sans" pitchFamily="34" charset="-120"/>
              </a:rPr>
              <a:t>START TRANSACTION and lock the class row with SELECT ... FOR UPDATE.</a:t>
            </a:r>
            <a:endParaRPr lang="en-US" sz="1500" dirty="0"/>
          </a:p>
        </p:txBody>
      </p:sp>
      <p:sp>
        <p:nvSpPr>
          <p:cNvPr id="6" name="Text 4"/>
          <p:cNvSpPr/>
          <p:nvPr/>
        </p:nvSpPr>
        <p:spPr>
          <a:xfrm>
            <a:off x="812800" y="2485392"/>
            <a:ext cx="35560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C8F03C"/>
                </a:solidFill>
                <a:latin typeface="Oswald" pitchFamily="34" charset="0"/>
                <a:ea typeface="Oswald" pitchFamily="34" charset="-122"/>
                <a:cs typeface="Oswald" pitchFamily="34" charset="-120"/>
              </a:rPr>
              <a:t>2</a:t>
            </a:r>
            <a:endParaRPr lang="en-US" sz="2400" dirty="0"/>
          </a:p>
        </p:txBody>
      </p:sp>
      <p:sp>
        <p:nvSpPr>
          <p:cNvPr id="7" name="Text 5"/>
          <p:cNvSpPr/>
          <p:nvPr/>
        </p:nvSpPr>
        <p:spPr>
          <a:xfrm>
            <a:off x="1244600" y="2485392"/>
            <a:ext cx="525856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4EBE4"/>
                </a:solidFill>
                <a:latin typeface="Public Sans" pitchFamily="34" charset="0"/>
                <a:ea typeface="Public Sans" pitchFamily="34" charset="-122"/>
                <a:cs typeface="Public Sans" pitchFamily="34" charset="-120"/>
              </a:rPr>
              <a:t>Count Active registrations and compare with the class capacity.</a:t>
            </a:r>
            <a:endParaRPr lang="en-US" sz="1500" dirty="0"/>
          </a:p>
        </p:txBody>
      </p:sp>
      <p:sp>
        <p:nvSpPr>
          <p:cNvPr id="8" name="Text 6"/>
          <p:cNvSpPr/>
          <p:nvPr/>
        </p:nvSpPr>
        <p:spPr>
          <a:xfrm>
            <a:off x="812800" y="3101342"/>
            <a:ext cx="35560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C8F03C"/>
                </a:solidFill>
                <a:latin typeface="Oswald" pitchFamily="34" charset="0"/>
                <a:ea typeface="Oswald" pitchFamily="34" charset="-122"/>
                <a:cs typeface="Oswald" pitchFamily="34" charset="-120"/>
              </a:rPr>
              <a:t>3</a:t>
            </a:r>
            <a:endParaRPr lang="en-US" sz="2400" dirty="0"/>
          </a:p>
        </p:txBody>
      </p:sp>
      <p:sp>
        <p:nvSpPr>
          <p:cNvPr id="9" name="Text 7"/>
          <p:cNvSpPr/>
          <p:nvPr/>
        </p:nvSpPr>
        <p:spPr>
          <a:xfrm>
            <a:off x="1244600" y="3101342"/>
            <a:ext cx="530860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4EBE4"/>
                </a:solidFill>
                <a:latin typeface="Public Sans" pitchFamily="34" charset="0"/>
                <a:ea typeface="Public Sans" pitchFamily="34" charset="-122"/>
                <a:cs typeface="Public Sans" pitchFamily="34" charset="-120"/>
              </a:rPr>
              <a:t>Check that the player's age group matches the class.</a:t>
            </a:r>
            <a:endParaRPr lang="en-US" sz="1500" dirty="0"/>
          </a:p>
        </p:txBody>
      </p:sp>
      <p:sp>
        <p:nvSpPr>
          <p:cNvPr id="10" name="Text 8"/>
          <p:cNvSpPr/>
          <p:nvPr/>
        </p:nvSpPr>
        <p:spPr>
          <a:xfrm>
            <a:off x="812800" y="3507742"/>
            <a:ext cx="35560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C8F03C"/>
                </a:solidFill>
                <a:latin typeface="Oswald" pitchFamily="34" charset="0"/>
                <a:ea typeface="Oswald" pitchFamily="34" charset="-122"/>
                <a:cs typeface="Oswald" pitchFamily="34" charset="-120"/>
              </a:rPr>
              <a:t>4</a:t>
            </a:r>
            <a:endParaRPr lang="en-US" sz="2400" dirty="0"/>
          </a:p>
        </p:txBody>
      </p:sp>
      <p:sp>
        <p:nvSpPr>
          <p:cNvPr id="11" name="Text 9"/>
          <p:cNvSpPr/>
          <p:nvPr/>
        </p:nvSpPr>
        <p:spPr>
          <a:xfrm>
            <a:off x="1244600" y="3507742"/>
            <a:ext cx="525856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E4EBE4"/>
                </a:solidFill>
                <a:latin typeface="Public Sans" pitchFamily="34" charset="0"/>
                <a:ea typeface="Public Sans" pitchFamily="34" charset="-122"/>
                <a:cs typeface="Public Sans" pitchFamily="34" charset="-120"/>
              </a:rPr>
              <a:t>INSERT the registration with CURDATE() and status Active, then COMMIT, or ROLLBACK on any failure.</a:t>
            </a:r>
            <a:endParaRPr lang="en-US" sz="1500" dirty="0"/>
          </a:p>
        </p:txBody>
      </p:sp>
      <p:sp>
        <p:nvSpPr>
          <p:cNvPr id="12" name="Text 10"/>
          <p:cNvSpPr/>
          <p:nvPr/>
        </p:nvSpPr>
        <p:spPr>
          <a:xfrm>
            <a:off x="6553200" y="1869442"/>
            <a:ext cx="4826000" cy="3098800"/>
          </a:xfrm>
          <a:prstGeom prst="roundRect">
            <a:avLst>
              <a:gd name="adj" fmla="val 3279"/>
            </a:avLst>
          </a:prstGeom>
          <a:solidFill>
            <a:srgbClr val="143826"/>
          </a:solidFill>
          <a:ln/>
        </p:spPr>
        <p:txBody>
          <a:bodyPr wrap="square" lIns="148042" tIns="148042" rIns="13930" bIns="122642" rtlCol="0" anchor="t">
            <a:normAutofit/>
          </a:bodyPr>
          <a:lstStyle/>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async function transaction(work) {</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const conn = await pool.getConnection();</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try {</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await conn.beginTransaction();</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const result = await work(conn);</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await conn.commit();</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return result;</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 catch (error) {</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await conn.rollback();</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throw error;</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  } finally { conn.release(); }</a:t>
            </a:r>
            <a:endParaRPr lang="en-US" sz="1200" dirty="0"/>
          </a:p>
          <a:p>
            <a:pPr marL="0" indent="0" algn="l">
              <a:lnSpc>
                <a:spcPts val="1800"/>
              </a:lnSpc>
              <a:buNone/>
            </a:pPr>
            <a:r>
              <a:rPr lang="en-US" sz="1200" dirty="0">
                <a:solidFill>
                  <a:srgbClr val="E4EBE4"/>
                </a:solidFill>
                <a:latin typeface="Courier New" pitchFamily="49" charset="0"/>
                <a:ea typeface="Courier New" pitchFamily="49" charset="-122"/>
                <a:cs typeface="Courier New" pitchFamily="49" charset="-120"/>
              </a:rPr>
              <a:t>}</a:t>
            </a:r>
            <a:endParaRPr lang="en-US" sz="1200" dirty="0"/>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8A8"/>
                </a:solidFill>
                <a:latin typeface="Public Sans" pitchFamily="34" charset="0"/>
                <a:ea typeface="Public Sans" pitchFamily="34" charset="-122"/>
                <a:cs typeface="Public Sans" pitchFamily="34" charset="-120"/>
              </a:rPr>
              <a:t>Transaction helper in Node.js (mysql2 connection pool); variable names shortened for the slide.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07 · SQL REPORTS</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10 BUSINESS REPORTS IN PLAIN SQL</a:t>
            </a:r>
            <a:endParaRPr lang="en-US" sz="3600" dirty="0"/>
          </a:p>
        </p:txBody>
      </p:sp>
      <p:sp>
        <p:nvSpPr>
          <p:cNvPr id="4" name="Shape 2"/>
          <p:cNvSpPr/>
          <p:nvPr/>
        </p:nvSpPr>
        <p:spPr>
          <a:xfrm>
            <a:off x="815975" y="1872617"/>
            <a:ext cx="3414157" cy="1477010"/>
          </a:xfrm>
          <a:prstGeom prst="roundRect">
            <a:avLst>
              <a:gd name="adj" fmla="val 6664"/>
            </a:avLst>
          </a:prstGeom>
          <a:solidFill>
            <a:srgbClr val="FBFAF5"/>
          </a:solidFill>
          <a:ln w="6350">
            <a:solidFill>
              <a:srgbClr val="DAD7C8"/>
            </a:solidFill>
            <a:prstDash val="solid"/>
          </a:ln>
        </p:spPr>
        <p:txBody>
          <a:bodyPr/>
          <a:lstStyle/>
          <a:p>
            <a:endParaRPr lang="en-TH"/>
          </a:p>
        </p:txBody>
      </p:sp>
      <p:sp>
        <p:nvSpPr>
          <p:cNvPr id="5" name="Text 3"/>
          <p:cNvSpPr/>
          <p:nvPr/>
        </p:nvSpPr>
        <p:spPr>
          <a:xfrm>
            <a:off x="1021080" y="2077721"/>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7A45"/>
                </a:solidFill>
                <a:latin typeface="Public Sans" pitchFamily="34" charset="0"/>
                <a:ea typeface="Public Sans" pitchFamily="34" charset="-122"/>
                <a:cs typeface="Public Sans" pitchFamily="34" charset="-120"/>
              </a:rPr>
              <a:t>Enrollment</a:t>
            </a:r>
            <a:endParaRPr lang="en-US" sz="1600" dirty="0"/>
          </a:p>
        </p:txBody>
      </p:sp>
      <p:sp>
        <p:nvSpPr>
          <p:cNvPr id="6" name="Text 4"/>
          <p:cNvSpPr/>
          <p:nvPr/>
        </p:nvSpPr>
        <p:spPr>
          <a:xfrm>
            <a:off x="1021080" y="2397764"/>
            <a:ext cx="309406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Active registrations by class, with coach, age group and capacity. LEFT JOIN, COUNT, GROUP BY.</a:t>
            </a:r>
            <a:endParaRPr lang="en-US" sz="1400" dirty="0"/>
          </a:p>
        </p:txBody>
      </p:sp>
      <p:sp>
        <p:nvSpPr>
          <p:cNvPr id="7" name="Shape 5"/>
          <p:cNvSpPr/>
          <p:nvPr/>
        </p:nvSpPr>
        <p:spPr>
          <a:xfrm>
            <a:off x="4388882" y="1872617"/>
            <a:ext cx="3414236" cy="1477010"/>
          </a:xfrm>
          <a:prstGeom prst="roundRect">
            <a:avLst>
              <a:gd name="adj" fmla="val 6664"/>
            </a:avLst>
          </a:prstGeom>
          <a:solidFill>
            <a:srgbClr val="FBFAF5"/>
          </a:solidFill>
          <a:ln w="6350">
            <a:solidFill>
              <a:srgbClr val="DAD7C8"/>
            </a:solidFill>
            <a:prstDash val="solid"/>
          </a:ln>
        </p:spPr>
        <p:txBody>
          <a:bodyPr/>
          <a:lstStyle/>
          <a:p>
            <a:endParaRPr lang="en-TH"/>
          </a:p>
        </p:txBody>
      </p:sp>
      <p:sp>
        <p:nvSpPr>
          <p:cNvPr id="8" name="Text 6"/>
          <p:cNvSpPr/>
          <p:nvPr/>
        </p:nvSpPr>
        <p:spPr>
          <a:xfrm>
            <a:off x="4593987" y="2077721"/>
            <a:ext cx="309414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7A45"/>
                </a:solidFill>
                <a:latin typeface="Public Sans" pitchFamily="34" charset="0"/>
                <a:ea typeface="Public Sans" pitchFamily="34" charset="-122"/>
                <a:cs typeface="Public Sans" pitchFamily="34" charset="-120"/>
              </a:rPr>
              <a:t>Attendance</a:t>
            </a:r>
            <a:endParaRPr lang="en-US" sz="1600" dirty="0"/>
          </a:p>
        </p:txBody>
      </p:sp>
      <p:sp>
        <p:nvSpPr>
          <p:cNvPr id="9" name="Text 7"/>
          <p:cNvSpPr/>
          <p:nvPr/>
        </p:nvSpPr>
        <p:spPr>
          <a:xfrm>
            <a:off x="4593987" y="2397764"/>
            <a:ext cx="309414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Present, absent and late counts per player, plus attendance percentage per class.</a:t>
            </a:r>
            <a:endParaRPr lang="en-US" sz="1400" dirty="0"/>
          </a:p>
        </p:txBody>
      </p:sp>
      <p:sp>
        <p:nvSpPr>
          <p:cNvPr id="10" name="Shape 8"/>
          <p:cNvSpPr/>
          <p:nvPr/>
        </p:nvSpPr>
        <p:spPr>
          <a:xfrm>
            <a:off x="7961868" y="1872617"/>
            <a:ext cx="3414157" cy="1477010"/>
          </a:xfrm>
          <a:prstGeom prst="roundRect">
            <a:avLst>
              <a:gd name="adj" fmla="val 6664"/>
            </a:avLst>
          </a:prstGeom>
          <a:solidFill>
            <a:srgbClr val="FBFAF5"/>
          </a:solidFill>
          <a:ln w="6350">
            <a:solidFill>
              <a:srgbClr val="DAD7C8"/>
            </a:solidFill>
            <a:prstDash val="solid"/>
          </a:ln>
        </p:spPr>
        <p:txBody>
          <a:bodyPr/>
          <a:lstStyle/>
          <a:p>
            <a:endParaRPr lang="en-TH"/>
          </a:p>
        </p:txBody>
      </p:sp>
      <p:sp>
        <p:nvSpPr>
          <p:cNvPr id="11" name="Text 9"/>
          <p:cNvSpPr/>
          <p:nvPr/>
        </p:nvSpPr>
        <p:spPr>
          <a:xfrm>
            <a:off x="8166974" y="2077721"/>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7A45"/>
                </a:solidFill>
                <a:latin typeface="Public Sans" pitchFamily="34" charset="0"/>
                <a:ea typeface="Public Sans" pitchFamily="34" charset="-122"/>
                <a:cs typeface="Public Sans" pitchFamily="34" charset="-120"/>
              </a:rPr>
              <a:t>Schedule</a:t>
            </a:r>
            <a:endParaRPr lang="en-US" sz="1600" dirty="0"/>
          </a:p>
        </p:txBody>
      </p:sp>
      <p:sp>
        <p:nvSpPr>
          <p:cNvPr id="12" name="Text 10"/>
          <p:cNvSpPr/>
          <p:nvPr/>
        </p:nvSpPr>
        <p:spPr>
          <a:xfrm>
            <a:off x="8166974" y="2397764"/>
            <a:ext cx="309406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Training sessions from today onward, with class, time, location and coach.</a:t>
            </a:r>
            <a:endParaRPr lang="en-US" sz="1400" dirty="0"/>
          </a:p>
        </p:txBody>
      </p:sp>
      <p:sp>
        <p:nvSpPr>
          <p:cNvPr id="13" name="Text 11"/>
          <p:cNvSpPr/>
          <p:nvPr/>
        </p:nvSpPr>
        <p:spPr>
          <a:xfrm>
            <a:off x="812800" y="3581400"/>
            <a:ext cx="98107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Other reports: players per age group and position, sessions per coach, players without an active registration, registrations by status, and age-group history.</a:t>
            </a:r>
            <a:endParaRPr lang="en-US" sz="14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Source: database/03_queries.sql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08 · ARCHITECTURE</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THREE-TIER WEB APPLICATION</a:t>
            </a:r>
            <a:endParaRPr lang="en-US" sz="3600" dirty="0"/>
          </a:p>
        </p:txBody>
      </p:sp>
      <p:sp>
        <p:nvSpPr>
          <p:cNvPr id="4" name="Shape 2"/>
          <p:cNvSpPr/>
          <p:nvPr/>
        </p:nvSpPr>
        <p:spPr>
          <a:xfrm>
            <a:off x="812800" y="1818642"/>
            <a:ext cx="10566400" cy="3302000"/>
          </a:xfrm>
          <a:prstGeom prst="roundRect">
            <a:avLst>
              <a:gd name="adj" fmla="val 3077"/>
            </a:avLst>
          </a:prstGeom>
          <a:solidFill>
            <a:srgbClr val="FFFFFF"/>
          </a:solidFill>
          <a:ln/>
        </p:spPr>
        <p:txBody>
          <a:bodyPr/>
          <a:lstStyle/>
          <a:p>
            <a:endParaRPr lang="en-TH"/>
          </a:p>
        </p:txBody>
      </p:sp>
      <p:pic>
        <p:nvPicPr>
          <p:cNvPr id="5" name="Image 0" descr="Three-tier architecture: Web Browser (EJS), Node.js and Express.js server, MySQL database"/>
          <p:cNvPicPr>
            <a:picLocks noChangeAspect="1"/>
          </p:cNvPicPr>
          <p:nvPr/>
        </p:nvPicPr>
        <p:blipFill>
          <a:blip r:embed="rId3"/>
          <a:stretch>
            <a:fillRect/>
          </a:stretch>
        </p:blipFill>
        <p:spPr>
          <a:xfrm>
            <a:off x="1158029" y="1824992"/>
            <a:ext cx="9875942" cy="3289300"/>
          </a:xfrm>
          <a:prstGeom prst="rect">
            <a:avLst/>
          </a:prstGeom>
        </p:spPr>
      </p:pic>
      <p:sp>
        <p:nvSpPr>
          <p:cNvPr id="6" name="Shape 3"/>
          <p:cNvSpPr/>
          <p:nvPr/>
        </p:nvSpPr>
        <p:spPr>
          <a:xfrm>
            <a:off x="815975" y="1821817"/>
            <a:ext cx="10560050" cy="3295650"/>
          </a:xfrm>
          <a:prstGeom prst="roundRect">
            <a:avLst>
              <a:gd name="adj" fmla="val 2987"/>
            </a:avLst>
          </a:prstGeom>
          <a:noFill/>
          <a:ln w="6350">
            <a:solidFill>
              <a:srgbClr val="DAD7C8"/>
            </a:solidFill>
            <a:prstDash val="solid"/>
          </a:ln>
        </p:spPr>
        <p:txBody>
          <a:bodyPr/>
          <a:lstStyle/>
          <a:p>
            <a:endParaRPr lang="en-TH"/>
          </a:p>
        </p:txBody>
      </p:sp>
      <p:sp>
        <p:nvSpPr>
          <p:cNvPr id="7" name="Text 4"/>
          <p:cNvSpPr/>
          <p:nvPr/>
        </p:nvSpPr>
        <p:spPr>
          <a:xfrm>
            <a:off x="812800" y="5298442"/>
            <a:ext cx="352312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E4A42"/>
                </a:solidFill>
                <a:latin typeface="Public Sans" pitchFamily="34" charset="0"/>
                <a:ea typeface="Public Sans" pitchFamily="34" charset="-122"/>
                <a:cs typeface="Public Sans" pitchFamily="34" charset="-120"/>
              </a:rPr>
              <a:t>Browser:</a:t>
            </a:r>
            <a:r>
              <a:rPr lang="en-US" sz="1300" dirty="0">
                <a:solidFill>
                  <a:srgbClr val="3E4A42"/>
                </a:solidFill>
                <a:latin typeface="Public Sans" pitchFamily="34" charset="0"/>
                <a:ea typeface="Public Sans" pitchFamily="34" charset="-122"/>
                <a:cs typeface="Public Sans" pitchFamily="34" charset="-120"/>
              </a:rPr>
              <a:t> EJS pages and forms.</a:t>
            </a:r>
            <a:endParaRPr lang="en-US" sz="1300" dirty="0"/>
          </a:p>
        </p:txBody>
      </p:sp>
      <p:sp>
        <p:nvSpPr>
          <p:cNvPr id="8" name="Text 5"/>
          <p:cNvSpPr/>
          <p:nvPr/>
        </p:nvSpPr>
        <p:spPr>
          <a:xfrm>
            <a:off x="4385707" y="5298442"/>
            <a:ext cx="3523204"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E4A42"/>
                </a:solidFill>
                <a:latin typeface="Public Sans" pitchFamily="34" charset="0"/>
                <a:ea typeface="Public Sans" pitchFamily="34" charset="-122"/>
                <a:cs typeface="Public Sans" pitchFamily="34" charset="-120"/>
              </a:rPr>
              <a:t>Express:</a:t>
            </a:r>
            <a:r>
              <a:rPr lang="en-US" sz="1300" dirty="0">
                <a:solidFill>
                  <a:srgbClr val="3E4A42"/>
                </a:solidFill>
                <a:latin typeface="Public Sans" pitchFamily="34" charset="0"/>
                <a:ea typeface="Public Sans" pitchFamily="34" charset="-122"/>
                <a:cs typeface="Public Sans" pitchFamily="34" charset="-120"/>
              </a:rPr>
              <a:t> routing, authentication, validation, business rules.</a:t>
            </a:r>
            <a:endParaRPr lang="en-US" sz="1300" dirty="0"/>
          </a:p>
        </p:txBody>
      </p:sp>
      <p:sp>
        <p:nvSpPr>
          <p:cNvPr id="9" name="Text 6"/>
          <p:cNvSpPr/>
          <p:nvPr/>
        </p:nvSpPr>
        <p:spPr>
          <a:xfrm>
            <a:off x="7958693" y="5298442"/>
            <a:ext cx="3523122"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E4A42"/>
                </a:solidFill>
                <a:latin typeface="Public Sans" pitchFamily="34" charset="0"/>
                <a:ea typeface="Public Sans" pitchFamily="34" charset="-122"/>
                <a:cs typeface="Public Sans" pitchFamily="34" charset="-120"/>
              </a:rPr>
              <a:t>MySQL:</a:t>
            </a:r>
            <a:r>
              <a:rPr lang="en-US" sz="1300" dirty="0">
                <a:solidFill>
                  <a:srgbClr val="3E4A42"/>
                </a:solidFill>
                <a:latin typeface="Public Sans" pitchFamily="34" charset="0"/>
                <a:ea typeface="Public Sans" pitchFamily="34" charset="-122"/>
                <a:cs typeface="Public Sans" pitchFamily="34" charset="-120"/>
              </a:rPr>
              <a:t> relational data and integrity constraints.</a:t>
            </a:r>
            <a:endParaRPr lang="en-US" sz="1300" dirty="0"/>
          </a:p>
        </p:txBody>
      </p:sp>
      <p:sp>
        <p:nvSpPr>
          <p:cNvPr id="10" name="Text 7"/>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The browser never talks to the database directly.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A1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8F03C"/>
                </a:solidFill>
                <a:latin typeface="Public Sans" pitchFamily="34" charset="0"/>
                <a:ea typeface="Public Sans" pitchFamily="34" charset="-122"/>
                <a:cs typeface="Public Sans" pitchFamily="34" charset="-120"/>
              </a:rPr>
              <a:t>08 · CONCURRENCY CONTROL</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A"/>
                </a:solidFill>
                <a:latin typeface="Oswald" pitchFamily="34" charset="0"/>
                <a:ea typeface="Oswald" pitchFamily="34" charset="-122"/>
                <a:cs typeface="Oswald" pitchFamily="34" charset="-120"/>
              </a:rPr>
              <a:t>TWO USERS, ONE LAST SEAT</a:t>
            </a:r>
            <a:endParaRPr lang="en-US" sz="3600" dirty="0"/>
          </a:p>
        </p:txBody>
      </p:sp>
      <p:sp>
        <p:nvSpPr>
          <p:cNvPr id="4" name="Shape 2"/>
          <p:cNvSpPr/>
          <p:nvPr/>
        </p:nvSpPr>
        <p:spPr>
          <a:xfrm>
            <a:off x="812800" y="1920242"/>
            <a:ext cx="2527300" cy="2593340"/>
          </a:xfrm>
          <a:prstGeom prst="roundRect">
            <a:avLst>
              <a:gd name="adj" fmla="val 4020"/>
            </a:avLst>
          </a:prstGeom>
          <a:solidFill>
            <a:srgbClr val="143826"/>
          </a:solidFill>
          <a:ln/>
        </p:spPr>
        <p:txBody>
          <a:bodyPr/>
          <a:lstStyle/>
          <a:p>
            <a:endParaRPr lang="en-TH"/>
          </a:p>
        </p:txBody>
      </p:sp>
      <p:sp>
        <p:nvSpPr>
          <p:cNvPr id="5" name="Shape 3"/>
          <p:cNvSpPr/>
          <p:nvPr/>
        </p:nvSpPr>
        <p:spPr>
          <a:xfrm>
            <a:off x="812800" y="1920242"/>
            <a:ext cx="2527300" cy="2593340"/>
          </a:xfrm>
          <a:custGeom>
            <a:avLst/>
            <a:gdLst/>
            <a:ahLst/>
            <a:cxnLst/>
            <a:rect l="l" t="t" r="r" b="b"/>
            <a:pathLst>
              <a:path w="2527300" h="259334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9DB8A8"/>
          </a:solidFill>
          <a:ln/>
        </p:spPr>
        <p:txBody>
          <a:bodyPr/>
          <a:lstStyle/>
          <a:p>
            <a:endParaRPr lang="en-TH"/>
          </a:p>
        </p:txBody>
      </p:sp>
      <p:sp>
        <p:nvSpPr>
          <p:cNvPr id="6" name="Text 4"/>
          <p:cNvSpPr/>
          <p:nvPr/>
        </p:nvSpPr>
        <p:spPr>
          <a:xfrm>
            <a:off x="990600" y="2174242"/>
            <a:ext cx="2236851"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C8F03C"/>
                </a:solidFill>
                <a:latin typeface="Oswald" pitchFamily="34" charset="0"/>
                <a:ea typeface="Oswald" pitchFamily="34" charset="-122"/>
                <a:cs typeface="Oswald" pitchFamily="34" charset="-120"/>
              </a:rPr>
              <a:t>1</a:t>
            </a:r>
            <a:endParaRPr lang="en-US" sz="3200" dirty="0"/>
          </a:p>
        </p:txBody>
      </p:sp>
      <p:sp>
        <p:nvSpPr>
          <p:cNvPr id="7" name="Text 5"/>
          <p:cNvSpPr/>
          <p:nvPr/>
        </p:nvSpPr>
        <p:spPr>
          <a:xfrm>
            <a:off x="990600" y="2656842"/>
            <a:ext cx="223685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A"/>
                </a:solidFill>
                <a:latin typeface="Public Sans" pitchFamily="34" charset="0"/>
                <a:ea typeface="Public Sans" pitchFamily="34" charset="-122"/>
                <a:cs typeface="Public Sans" pitchFamily="34" charset="-120"/>
              </a:rPr>
              <a:t>Scenario</a:t>
            </a:r>
            <a:endParaRPr lang="en-US" sz="1600" dirty="0"/>
          </a:p>
        </p:txBody>
      </p:sp>
      <p:sp>
        <p:nvSpPr>
          <p:cNvPr id="8" name="Text 6"/>
          <p:cNvSpPr/>
          <p:nvPr/>
        </p:nvSpPr>
        <p:spPr>
          <a:xfrm>
            <a:off x="990600" y="2976879"/>
            <a:ext cx="2236851" cy="13589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EBE4"/>
                </a:solidFill>
                <a:latin typeface="Public Sans" pitchFamily="34" charset="0"/>
                <a:ea typeface="Public Sans" pitchFamily="34" charset="-122"/>
                <a:cs typeface="Public Sans" pitchFamily="34" charset="-120"/>
              </a:rPr>
              <a:t>A class holds 20 players and has 19 active registrations. Two users register one more at once.</a:t>
            </a:r>
            <a:endParaRPr lang="en-US" sz="1500" dirty="0"/>
          </a:p>
        </p:txBody>
      </p:sp>
      <p:sp>
        <p:nvSpPr>
          <p:cNvPr id="9" name="Shape 7"/>
          <p:cNvSpPr/>
          <p:nvPr/>
        </p:nvSpPr>
        <p:spPr>
          <a:xfrm>
            <a:off x="3492500" y="1920242"/>
            <a:ext cx="2527300" cy="2593340"/>
          </a:xfrm>
          <a:prstGeom prst="roundRect">
            <a:avLst>
              <a:gd name="adj" fmla="val 4020"/>
            </a:avLst>
          </a:prstGeom>
          <a:solidFill>
            <a:srgbClr val="143826"/>
          </a:solidFill>
          <a:ln/>
        </p:spPr>
        <p:txBody>
          <a:bodyPr/>
          <a:lstStyle/>
          <a:p>
            <a:endParaRPr lang="en-TH"/>
          </a:p>
        </p:txBody>
      </p:sp>
      <p:sp>
        <p:nvSpPr>
          <p:cNvPr id="10" name="Shape 8"/>
          <p:cNvSpPr/>
          <p:nvPr/>
        </p:nvSpPr>
        <p:spPr>
          <a:xfrm>
            <a:off x="3492500" y="1920242"/>
            <a:ext cx="2527300" cy="2593340"/>
          </a:xfrm>
          <a:custGeom>
            <a:avLst/>
            <a:gdLst/>
            <a:ahLst/>
            <a:cxnLst/>
            <a:rect l="l" t="t" r="r" b="b"/>
            <a:pathLst>
              <a:path w="2527300" h="259334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9DB8A8"/>
          </a:solidFill>
          <a:ln/>
        </p:spPr>
        <p:txBody>
          <a:bodyPr/>
          <a:lstStyle/>
          <a:p>
            <a:endParaRPr lang="en-TH"/>
          </a:p>
        </p:txBody>
      </p:sp>
      <p:sp>
        <p:nvSpPr>
          <p:cNvPr id="11" name="Text 9"/>
          <p:cNvSpPr/>
          <p:nvPr/>
        </p:nvSpPr>
        <p:spPr>
          <a:xfrm>
            <a:off x="3670300" y="2174242"/>
            <a:ext cx="2236851"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C8F03C"/>
                </a:solidFill>
                <a:latin typeface="Oswald" pitchFamily="34" charset="0"/>
                <a:ea typeface="Oswald" pitchFamily="34" charset="-122"/>
                <a:cs typeface="Oswald" pitchFamily="34" charset="-120"/>
              </a:rPr>
              <a:t>2</a:t>
            </a:r>
            <a:endParaRPr lang="en-US" sz="3200" dirty="0"/>
          </a:p>
        </p:txBody>
      </p:sp>
      <p:sp>
        <p:nvSpPr>
          <p:cNvPr id="12" name="Text 10"/>
          <p:cNvSpPr/>
          <p:nvPr/>
        </p:nvSpPr>
        <p:spPr>
          <a:xfrm>
            <a:off x="3670300" y="2656842"/>
            <a:ext cx="223685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A"/>
                </a:solidFill>
                <a:latin typeface="Public Sans" pitchFamily="34" charset="0"/>
                <a:ea typeface="Public Sans" pitchFamily="34" charset="-122"/>
                <a:cs typeface="Public Sans" pitchFamily="34" charset="-120"/>
              </a:rPr>
              <a:t>Lock</a:t>
            </a:r>
            <a:endParaRPr lang="en-US" sz="1600" dirty="0"/>
          </a:p>
        </p:txBody>
      </p:sp>
      <p:sp>
        <p:nvSpPr>
          <p:cNvPr id="13" name="Text 11"/>
          <p:cNvSpPr/>
          <p:nvPr/>
        </p:nvSpPr>
        <p:spPr>
          <a:xfrm>
            <a:off x="3670300" y="2976879"/>
            <a:ext cx="2236851"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EBE4"/>
                </a:solidFill>
                <a:latin typeface="Public Sans" pitchFamily="34" charset="0"/>
                <a:ea typeface="Public Sans" pitchFamily="34" charset="-122"/>
                <a:cs typeface="Public Sans" pitchFamily="34" charset="-120"/>
              </a:rPr>
              <a:t>The first transaction locks the class row with SELECT ... FOR UPDATE.</a:t>
            </a:r>
            <a:endParaRPr lang="en-US" sz="1500" dirty="0"/>
          </a:p>
        </p:txBody>
      </p:sp>
      <p:sp>
        <p:nvSpPr>
          <p:cNvPr id="14" name="Shape 12"/>
          <p:cNvSpPr/>
          <p:nvPr/>
        </p:nvSpPr>
        <p:spPr>
          <a:xfrm>
            <a:off x="6172200" y="1920242"/>
            <a:ext cx="2527300" cy="2593340"/>
          </a:xfrm>
          <a:prstGeom prst="roundRect">
            <a:avLst>
              <a:gd name="adj" fmla="val 4020"/>
            </a:avLst>
          </a:prstGeom>
          <a:solidFill>
            <a:srgbClr val="143826"/>
          </a:solidFill>
          <a:ln/>
        </p:spPr>
        <p:txBody>
          <a:bodyPr/>
          <a:lstStyle/>
          <a:p>
            <a:endParaRPr lang="en-TH"/>
          </a:p>
        </p:txBody>
      </p:sp>
      <p:sp>
        <p:nvSpPr>
          <p:cNvPr id="15" name="Shape 13"/>
          <p:cNvSpPr/>
          <p:nvPr/>
        </p:nvSpPr>
        <p:spPr>
          <a:xfrm>
            <a:off x="6172200" y="1920242"/>
            <a:ext cx="2527300" cy="2593340"/>
          </a:xfrm>
          <a:custGeom>
            <a:avLst/>
            <a:gdLst/>
            <a:ahLst/>
            <a:cxnLst/>
            <a:rect l="l" t="t" r="r" b="b"/>
            <a:pathLst>
              <a:path w="2527300" h="259334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9DB8A8"/>
          </a:solidFill>
          <a:ln/>
        </p:spPr>
        <p:txBody>
          <a:bodyPr/>
          <a:lstStyle/>
          <a:p>
            <a:endParaRPr lang="en-TH"/>
          </a:p>
        </p:txBody>
      </p:sp>
      <p:sp>
        <p:nvSpPr>
          <p:cNvPr id="16" name="Text 14"/>
          <p:cNvSpPr/>
          <p:nvPr/>
        </p:nvSpPr>
        <p:spPr>
          <a:xfrm>
            <a:off x="6350000" y="2174242"/>
            <a:ext cx="2236851"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C8F03C"/>
                </a:solidFill>
                <a:latin typeface="Oswald" pitchFamily="34" charset="0"/>
                <a:ea typeface="Oswald" pitchFamily="34" charset="-122"/>
                <a:cs typeface="Oswald" pitchFamily="34" charset="-120"/>
              </a:rPr>
              <a:t>3</a:t>
            </a:r>
            <a:endParaRPr lang="en-US" sz="3200" dirty="0"/>
          </a:p>
        </p:txBody>
      </p:sp>
      <p:sp>
        <p:nvSpPr>
          <p:cNvPr id="17" name="Text 15"/>
          <p:cNvSpPr/>
          <p:nvPr/>
        </p:nvSpPr>
        <p:spPr>
          <a:xfrm>
            <a:off x="6350000" y="2656842"/>
            <a:ext cx="223685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A"/>
                </a:solidFill>
                <a:latin typeface="Public Sans" pitchFamily="34" charset="0"/>
                <a:ea typeface="Public Sans" pitchFamily="34" charset="-122"/>
                <a:cs typeface="Public Sans" pitchFamily="34" charset="-120"/>
              </a:rPr>
              <a:t>Wait</a:t>
            </a:r>
            <a:endParaRPr lang="en-US" sz="1600" dirty="0"/>
          </a:p>
        </p:txBody>
      </p:sp>
      <p:sp>
        <p:nvSpPr>
          <p:cNvPr id="18" name="Text 16"/>
          <p:cNvSpPr/>
          <p:nvPr/>
        </p:nvSpPr>
        <p:spPr>
          <a:xfrm>
            <a:off x="6350000" y="2976879"/>
            <a:ext cx="2236851"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EBE4"/>
                </a:solidFill>
                <a:latin typeface="Public Sans" pitchFamily="34" charset="0"/>
                <a:ea typeface="Public Sans" pitchFamily="34" charset="-122"/>
                <a:cs typeface="Public Sans" pitchFamily="34" charset="-120"/>
              </a:rPr>
              <a:t>The second transaction waits until the first commits.</a:t>
            </a:r>
            <a:endParaRPr lang="en-US" sz="1500" dirty="0"/>
          </a:p>
        </p:txBody>
      </p:sp>
      <p:sp>
        <p:nvSpPr>
          <p:cNvPr id="19" name="Shape 17"/>
          <p:cNvSpPr/>
          <p:nvPr/>
        </p:nvSpPr>
        <p:spPr>
          <a:xfrm>
            <a:off x="8851900" y="1920242"/>
            <a:ext cx="2527300" cy="2593340"/>
          </a:xfrm>
          <a:prstGeom prst="roundRect">
            <a:avLst>
              <a:gd name="adj" fmla="val 4020"/>
            </a:avLst>
          </a:prstGeom>
          <a:solidFill>
            <a:srgbClr val="143826"/>
          </a:solidFill>
          <a:ln/>
        </p:spPr>
        <p:txBody>
          <a:bodyPr/>
          <a:lstStyle/>
          <a:p>
            <a:endParaRPr lang="en-TH"/>
          </a:p>
        </p:txBody>
      </p:sp>
      <p:sp>
        <p:nvSpPr>
          <p:cNvPr id="20" name="Shape 18"/>
          <p:cNvSpPr/>
          <p:nvPr/>
        </p:nvSpPr>
        <p:spPr>
          <a:xfrm>
            <a:off x="8851900" y="1920242"/>
            <a:ext cx="2527300" cy="2593340"/>
          </a:xfrm>
          <a:custGeom>
            <a:avLst/>
            <a:gdLst/>
            <a:ahLst/>
            <a:cxnLst/>
            <a:rect l="l" t="t" r="r" b="b"/>
            <a:pathLst>
              <a:path w="2527300" h="259334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C8F03C"/>
          </a:solidFill>
          <a:ln/>
        </p:spPr>
        <p:txBody>
          <a:bodyPr/>
          <a:lstStyle/>
          <a:p>
            <a:endParaRPr lang="en-TH"/>
          </a:p>
        </p:txBody>
      </p:sp>
      <p:sp>
        <p:nvSpPr>
          <p:cNvPr id="21" name="Text 19"/>
          <p:cNvSpPr/>
          <p:nvPr/>
        </p:nvSpPr>
        <p:spPr>
          <a:xfrm>
            <a:off x="9029700" y="2174242"/>
            <a:ext cx="2236851"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C8F03C"/>
                </a:solidFill>
                <a:latin typeface="Oswald" pitchFamily="34" charset="0"/>
                <a:ea typeface="Oswald" pitchFamily="34" charset="-122"/>
                <a:cs typeface="Oswald" pitchFamily="34" charset="-120"/>
              </a:rPr>
              <a:t>4</a:t>
            </a:r>
            <a:endParaRPr lang="en-US" sz="3200" dirty="0"/>
          </a:p>
        </p:txBody>
      </p:sp>
      <p:sp>
        <p:nvSpPr>
          <p:cNvPr id="22" name="Text 20"/>
          <p:cNvSpPr/>
          <p:nvPr/>
        </p:nvSpPr>
        <p:spPr>
          <a:xfrm>
            <a:off x="9029700" y="2656842"/>
            <a:ext cx="223685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A"/>
                </a:solidFill>
                <a:latin typeface="Public Sans" pitchFamily="34" charset="0"/>
                <a:ea typeface="Public Sans" pitchFamily="34" charset="-122"/>
                <a:cs typeface="Public Sans" pitchFamily="34" charset="-120"/>
              </a:rPr>
              <a:t>Re-check</a:t>
            </a:r>
            <a:endParaRPr lang="en-US" sz="1600" dirty="0"/>
          </a:p>
        </p:txBody>
      </p:sp>
      <p:sp>
        <p:nvSpPr>
          <p:cNvPr id="23" name="Text 21"/>
          <p:cNvSpPr/>
          <p:nvPr/>
        </p:nvSpPr>
        <p:spPr>
          <a:xfrm>
            <a:off x="9029700" y="2976879"/>
            <a:ext cx="2236851"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EBE4"/>
                </a:solidFill>
                <a:latin typeface="Public Sans" pitchFamily="34" charset="0"/>
                <a:ea typeface="Public Sans" pitchFamily="34" charset="-122"/>
                <a:cs typeface="Public Sans" pitchFamily="34" charset="-120"/>
              </a:rPr>
              <a:t>It counts again, sees 20 of 20 and rejects the registration.</a:t>
            </a:r>
            <a:endParaRPr lang="en-US" sz="1500" dirty="0"/>
          </a:p>
        </p:txBody>
      </p:sp>
      <p:sp>
        <p:nvSpPr>
          <p:cNvPr id="24" name="Text 22"/>
          <p:cNvSpPr/>
          <p:nvPr/>
        </p:nvSpPr>
        <p:spPr>
          <a:xfrm>
            <a:off x="812800" y="4792979"/>
            <a:ext cx="91567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3C6"/>
                </a:solidFill>
                <a:latin typeface="Public Sans" pitchFamily="34" charset="0"/>
                <a:ea typeface="Public Sans" pitchFamily="34" charset="-122"/>
                <a:cs typeface="Public Sans" pitchFamily="34" charset="-120"/>
              </a:rPr>
              <a:t>MySQL InnoDB supports transactions and row-level locking.</a:t>
            </a:r>
            <a:endParaRPr lang="en-US" sz="1400" dirty="0"/>
          </a:p>
        </p:txBody>
      </p:sp>
      <p:sp>
        <p:nvSpPr>
          <p:cNvPr id="25" name="Text 2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B8A8"/>
                </a:solidFill>
                <a:latin typeface="Public Sans" pitchFamily="34" charset="0"/>
                <a:ea typeface="Public Sans" pitchFamily="34" charset="-122"/>
                <a:cs typeface="Public Sans" pitchFamily="34" charset="-120"/>
              </a:rPr>
              <a:t>Prevents over-enrollment when used consistently for every registration operation.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09 · TECH STACK</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NODE.JS, EXPRESS, EJS AND MYSQL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54202"/>
          <a:ext cx="10556241" cy="3931920"/>
        </p:xfrm>
        <a:graphic>
          <a:graphicData uri="http://schemas.openxmlformats.org/drawingml/2006/table">
            <a:tbl>
              <a:tblPr/>
              <a:tblGrid>
                <a:gridCol w="1794561">
                  <a:extLst>
                    <a:ext uri="{9D8B030D-6E8A-4147-A177-3AD203B41FA5}">
                      <a16:colId xmlns:a16="http://schemas.microsoft.com/office/drawing/2014/main" val="20000"/>
                    </a:ext>
                  </a:extLst>
                </a:gridCol>
                <a:gridCol w="3589122">
                  <a:extLst>
                    <a:ext uri="{9D8B030D-6E8A-4147-A177-3AD203B41FA5}">
                      <a16:colId xmlns:a16="http://schemas.microsoft.com/office/drawing/2014/main" val="20001"/>
                    </a:ext>
                  </a:extLst>
                </a:gridCol>
                <a:gridCol w="1794561">
                  <a:extLst>
                    <a:ext uri="{9D8B030D-6E8A-4147-A177-3AD203B41FA5}">
                      <a16:colId xmlns:a16="http://schemas.microsoft.com/office/drawing/2014/main" val="20002"/>
                    </a:ext>
                  </a:extLst>
                </a:gridCol>
                <a:gridCol w="3377997">
                  <a:extLst>
                    <a:ext uri="{9D8B030D-6E8A-4147-A177-3AD203B41FA5}">
                      <a16:colId xmlns:a16="http://schemas.microsoft.com/office/drawing/2014/main" val="20003"/>
                    </a:ext>
                  </a:extLst>
                </a:gridCol>
              </a:tblGrid>
              <a:tr h="436880">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Layer</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Technology</a:t>
                      </a:r>
                      <a:endParaRPr lang="en-US" sz="1600" dirty="0">
                        <a:latin typeface="Public Sans" charset="0"/>
                        <a:ea typeface="Public Sans" charset="0"/>
                        <a:cs typeface="Public Sans" charset="0"/>
                      </a:endParaRPr>
                    </a:p>
                  </a:txBody>
                  <a:tcPr marL="71120" marR="71120" marT="71120" marB="71120">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Version</a:t>
                      </a:r>
                      <a:endParaRPr lang="en-US" sz="1600" dirty="0">
                        <a:latin typeface="Public Sans" charset="0"/>
                        <a:ea typeface="Public Sans" charset="0"/>
                        <a:cs typeface="Public Sans" charset="0"/>
                      </a:endParaRPr>
                    </a:p>
                  </a:txBody>
                  <a:tcPr marL="71120" marR="71120" marT="71120" marB="71120">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Purpose</a:t>
                      </a:r>
                      <a:endParaRPr lang="en-US" sz="1600" dirty="0">
                        <a:latin typeface="Public Sans" charset="0"/>
                        <a:ea typeface="Public Sans" charset="0"/>
                        <a:cs typeface="Public Sans" charset="0"/>
                      </a:endParaRPr>
                    </a:p>
                  </a:txBody>
                  <a:tcPr marL="71120" marR="71120" marT="71120" marB="71120">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extLst>
                  <a:ext uri="{0D108BD9-81ED-4DB2-BD59-A6C34878D82A}">
                    <a16:rowId xmlns:a16="http://schemas.microsoft.com/office/drawing/2014/main" val="10000"/>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Database</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MySQL</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8+</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Tables, transactions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DB driver</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mysql2</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3.24.5</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Pool, plain SQL</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2"/>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Web</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Express.js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5.2.1</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Routes, middleware</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3"/>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Templates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EJS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7.0.1</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Server-side HTML</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4"/>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Runtime</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Node.js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18+</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Runs the server</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5"/>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Auth</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express-session, bcryptjs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1.19.0, 2.4.3</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Login, roles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6"/>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Validation</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express-validator</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7.3.2</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Input checks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7"/>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Tools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Git, GitHub, VS Code</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Code and design</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Plain SQL with mysql2 and no ORM keeps joins, constraints and transactions explicit.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10 · ROLE-BASED ACCESS</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FOUR ROLES, CHECKED ON THE SERVER</a:t>
            </a:r>
            <a:endParaRPr lang="en-US" sz="3600" dirty="0"/>
          </a:p>
        </p:txBody>
      </p:sp>
      <p:sp>
        <p:nvSpPr>
          <p:cNvPr id="4" name="Shape 2"/>
          <p:cNvSpPr/>
          <p:nvPr/>
        </p:nvSpPr>
        <p:spPr>
          <a:xfrm>
            <a:off x="812800" y="1920242"/>
            <a:ext cx="2519680" cy="1917700"/>
          </a:xfrm>
          <a:prstGeom prst="roundRect">
            <a:avLst>
              <a:gd name="adj" fmla="val 5298"/>
            </a:avLst>
          </a:prstGeom>
          <a:solidFill>
            <a:srgbClr val="0E2A1C"/>
          </a:solidFill>
          <a:ln/>
        </p:spPr>
        <p:txBody>
          <a:bodyPr/>
          <a:lstStyle/>
          <a:p>
            <a:endParaRPr lang="en-TH"/>
          </a:p>
        </p:txBody>
      </p:sp>
      <p:sp>
        <p:nvSpPr>
          <p:cNvPr id="5" name="Text 3"/>
          <p:cNvSpPr/>
          <p:nvPr/>
        </p:nvSpPr>
        <p:spPr>
          <a:xfrm>
            <a:off x="990600" y="2148842"/>
            <a:ext cx="2229003" cy="39116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C8F03C"/>
                </a:solidFill>
                <a:latin typeface="Oswald" pitchFamily="34" charset="0"/>
                <a:ea typeface="Oswald" pitchFamily="34" charset="-122"/>
                <a:cs typeface="Oswald" pitchFamily="34" charset="-120"/>
              </a:rPr>
              <a:t>Admin</a:t>
            </a:r>
            <a:endParaRPr lang="en-US" sz="2400" dirty="0"/>
          </a:p>
        </p:txBody>
      </p:sp>
      <p:sp>
        <p:nvSpPr>
          <p:cNvPr id="6" name="Text 4"/>
          <p:cNvSpPr/>
          <p:nvPr/>
        </p:nvSpPr>
        <p:spPr>
          <a:xfrm>
            <a:off x="990600" y="2603500"/>
            <a:ext cx="2229003"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4EBE4"/>
                </a:solidFill>
                <a:latin typeface="Public Sans" pitchFamily="34" charset="0"/>
                <a:ea typeface="Public Sans" pitchFamily="34" charset="-122"/>
                <a:cs typeface="Public Sans" pitchFamily="34" charset="-120"/>
              </a:rPr>
              <a:t>Manages academy records, users, classes, registrations and attendance.</a:t>
            </a:r>
            <a:endParaRPr lang="en-US" sz="1400" dirty="0"/>
          </a:p>
        </p:txBody>
      </p:sp>
      <p:sp>
        <p:nvSpPr>
          <p:cNvPr id="7" name="Shape 5"/>
          <p:cNvSpPr/>
          <p:nvPr/>
        </p:nvSpPr>
        <p:spPr>
          <a:xfrm>
            <a:off x="3488055" y="1923417"/>
            <a:ext cx="2523490" cy="1911350"/>
          </a:xfrm>
          <a:prstGeom prst="roundRect">
            <a:avLst>
              <a:gd name="adj" fmla="val 5150"/>
            </a:avLst>
          </a:prstGeom>
          <a:solidFill>
            <a:srgbClr val="FBFAF5"/>
          </a:solidFill>
          <a:ln w="6350">
            <a:solidFill>
              <a:srgbClr val="DAD7C8"/>
            </a:solidFill>
            <a:prstDash val="solid"/>
          </a:ln>
        </p:spPr>
        <p:txBody>
          <a:bodyPr/>
          <a:lstStyle/>
          <a:p>
            <a:endParaRPr lang="en-TH"/>
          </a:p>
        </p:txBody>
      </p:sp>
      <p:sp>
        <p:nvSpPr>
          <p:cNvPr id="8" name="Text 6"/>
          <p:cNvSpPr/>
          <p:nvPr/>
        </p:nvSpPr>
        <p:spPr>
          <a:xfrm>
            <a:off x="3667760" y="2153921"/>
            <a:ext cx="2229003" cy="39116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F7A45"/>
                </a:solidFill>
                <a:latin typeface="Oswald" pitchFamily="34" charset="0"/>
                <a:ea typeface="Oswald" pitchFamily="34" charset="-122"/>
                <a:cs typeface="Oswald" pitchFamily="34" charset="-120"/>
              </a:rPr>
              <a:t>Coach</a:t>
            </a:r>
            <a:endParaRPr lang="en-US" sz="2400" dirty="0"/>
          </a:p>
        </p:txBody>
      </p:sp>
      <p:sp>
        <p:nvSpPr>
          <p:cNvPr id="9" name="Text 7"/>
          <p:cNvSpPr/>
          <p:nvPr/>
        </p:nvSpPr>
        <p:spPr>
          <a:xfrm>
            <a:off x="3667760" y="2608579"/>
            <a:ext cx="2229003"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Views assigned classes, records attendance, submits age-group recommendations.</a:t>
            </a:r>
            <a:endParaRPr lang="en-US" sz="1400" dirty="0"/>
          </a:p>
        </p:txBody>
      </p:sp>
      <p:sp>
        <p:nvSpPr>
          <p:cNvPr id="10" name="Shape 8"/>
          <p:cNvSpPr/>
          <p:nvPr/>
        </p:nvSpPr>
        <p:spPr>
          <a:xfrm>
            <a:off x="6170295" y="1923417"/>
            <a:ext cx="2523490" cy="1911350"/>
          </a:xfrm>
          <a:prstGeom prst="roundRect">
            <a:avLst>
              <a:gd name="adj" fmla="val 5150"/>
            </a:avLst>
          </a:prstGeom>
          <a:solidFill>
            <a:srgbClr val="FBFAF5"/>
          </a:solidFill>
          <a:ln w="6350">
            <a:solidFill>
              <a:srgbClr val="DAD7C8"/>
            </a:solidFill>
            <a:prstDash val="solid"/>
          </a:ln>
        </p:spPr>
        <p:txBody>
          <a:bodyPr/>
          <a:lstStyle/>
          <a:p>
            <a:endParaRPr lang="en-TH"/>
          </a:p>
        </p:txBody>
      </p:sp>
      <p:sp>
        <p:nvSpPr>
          <p:cNvPr id="11" name="Text 9"/>
          <p:cNvSpPr/>
          <p:nvPr/>
        </p:nvSpPr>
        <p:spPr>
          <a:xfrm>
            <a:off x="6350000" y="2153921"/>
            <a:ext cx="2229003" cy="39116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F7A45"/>
                </a:solidFill>
                <a:latin typeface="Oswald" pitchFamily="34" charset="0"/>
                <a:ea typeface="Oswald" pitchFamily="34" charset="-122"/>
                <a:cs typeface="Oswald" pitchFamily="34" charset="-120"/>
              </a:rPr>
              <a:t>Parent</a:t>
            </a:r>
            <a:endParaRPr lang="en-US" sz="2400" dirty="0"/>
          </a:p>
        </p:txBody>
      </p:sp>
      <p:sp>
        <p:nvSpPr>
          <p:cNvPr id="12" name="Text 10"/>
          <p:cNvSpPr/>
          <p:nvPr/>
        </p:nvSpPr>
        <p:spPr>
          <a:xfrm>
            <a:off x="6350000" y="2608579"/>
            <a:ext cx="222900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Sees linked children, schedules and attendance.</a:t>
            </a:r>
            <a:endParaRPr lang="en-US" sz="1400" dirty="0"/>
          </a:p>
        </p:txBody>
      </p:sp>
      <p:sp>
        <p:nvSpPr>
          <p:cNvPr id="13" name="Shape 11"/>
          <p:cNvSpPr/>
          <p:nvPr/>
        </p:nvSpPr>
        <p:spPr>
          <a:xfrm>
            <a:off x="8852535" y="1923417"/>
            <a:ext cx="2523490" cy="1911350"/>
          </a:xfrm>
          <a:prstGeom prst="roundRect">
            <a:avLst>
              <a:gd name="adj" fmla="val 5150"/>
            </a:avLst>
          </a:prstGeom>
          <a:solidFill>
            <a:srgbClr val="FBFAF5"/>
          </a:solidFill>
          <a:ln w="6350">
            <a:solidFill>
              <a:srgbClr val="DAD7C8"/>
            </a:solidFill>
            <a:prstDash val="solid"/>
          </a:ln>
        </p:spPr>
        <p:txBody>
          <a:bodyPr/>
          <a:lstStyle/>
          <a:p>
            <a:endParaRPr lang="en-TH"/>
          </a:p>
        </p:txBody>
      </p:sp>
      <p:sp>
        <p:nvSpPr>
          <p:cNvPr id="14" name="Text 12"/>
          <p:cNvSpPr/>
          <p:nvPr/>
        </p:nvSpPr>
        <p:spPr>
          <a:xfrm>
            <a:off x="9032240" y="2153921"/>
            <a:ext cx="2229003" cy="39116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F7A45"/>
                </a:solidFill>
                <a:latin typeface="Oswald" pitchFamily="34" charset="0"/>
                <a:ea typeface="Oswald" pitchFamily="34" charset="-122"/>
                <a:cs typeface="Oswald" pitchFamily="34" charset="-120"/>
              </a:rPr>
              <a:t>Management</a:t>
            </a:r>
            <a:endParaRPr lang="en-US" sz="2400" dirty="0"/>
          </a:p>
        </p:txBody>
      </p:sp>
      <p:sp>
        <p:nvSpPr>
          <p:cNvPr id="15" name="Text 13"/>
          <p:cNvSpPr/>
          <p:nvPr/>
        </p:nvSpPr>
        <p:spPr>
          <a:xfrm>
            <a:off x="9032240" y="2608579"/>
            <a:ext cx="222900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Reviews dashboards and management reports, read only.</a:t>
            </a:r>
            <a:endParaRPr lang="en-US" sz="1400" dirty="0"/>
          </a:p>
        </p:txBody>
      </p:sp>
      <p:sp>
        <p:nvSpPr>
          <p:cNvPr id="16" name="Text 14"/>
          <p:cNvSpPr/>
          <p:nvPr/>
        </p:nvSpPr>
        <p:spPr>
          <a:xfrm>
            <a:off x="812800" y="4117342"/>
            <a:ext cx="98107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Login sessions, bcrypt password hashing and a role check on every route, with CSRF protection in middleware.</a:t>
            </a:r>
            <a:endParaRPr lang="en-US" sz="140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Source: src/middleware/auth.js, csrf.js and tests/authorization.test.js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11 · MILESTONES</a:t>
            </a:r>
            <a:endParaRPr lang="en-US" sz="1400" dirty="0"/>
          </a:p>
        </p:txBody>
      </p:sp>
      <p:sp>
        <p:nvSpPr>
          <p:cNvPr id="3" name="Text 1"/>
          <p:cNvSpPr>
            <a:spLocks noGrp="1"/>
          </p:cNvSpPr>
          <p:nvPr>
            <p:ph type="title"/>
          </p:nvPr>
        </p:nvSpPr>
        <p:spPr>
          <a:xfrm>
            <a:off x="812800" y="11379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2261B"/>
                </a:solidFill>
                <a:latin typeface="Oswald" pitchFamily="34" charset="0"/>
                <a:ea typeface="Oswald" pitchFamily="34" charset="-122"/>
                <a:cs typeface="Oswald" pitchFamily="34" charset="-120"/>
              </a:rPr>
              <a:t>SIX MILESTONES, DELIVERED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54202"/>
          <a:ext cx="10556241" cy="3058160"/>
        </p:xfrm>
        <a:graphic>
          <a:graphicData uri="http://schemas.openxmlformats.org/drawingml/2006/table">
            <a:tbl>
              <a:tblPr/>
              <a:tblGrid>
                <a:gridCol w="1266749">
                  <a:extLst>
                    <a:ext uri="{9D8B030D-6E8A-4147-A177-3AD203B41FA5}">
                      <a16:colId xmlns:a16="http://schemas.microsoft.com/office/drawing/2014/main" val="20000"/>
                    </a:ext>
                  </a:extLst>
                </a:gridCol>
                <a:gridCol w="4644746">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gridCol w="2533498">
                  <a:extLst>
                    <a:ext uri="{9D8B030D-6E8A-4147-A177-3AD203B41FA5}">
                      <a16:colId xmlns:a16="http://schemas.microsoft.com/office/drawing/2014/main" val="20003"/>
                    </a:ext>
                  </a:extLst>
                </a:gridCol>
              </a:tblGrid>
              <a:tr h="436880">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Week</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Milestone</a:t>
                      </a:r>
                      <a:endParaRPr lang="en-US" sz="1600" dirty="0">
                        <a:latin typeface="Public Sans" charset="0"/>
                        <a:ea typeface="Public Sans" charset="0"/>
                        <a:cs typeface="Public Sans" charset="0"/>
                      </a:endParaRPr>
                    </a:p>
                  </a:txBody>
                  <a:tcPr marL="71120" marR="71120" marT="71120" marB="71120">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Owner</a:t>
                      </a:r>
                      <a:endParaRPr lang="en-US" sz="1600" dirty="0">
                        <a:latin typeface="Public Sans" charset="0"/>
                        <a:ea typeface="Public Sans" charset="0"/>
                        <a:cs typeface="Public Sans" charset="0"/>
                      </a:endParaRPr>
                    </a:p>
                  </a:txBody>
                  <a:tcPr marL="71120" marR="71120" marT="71120" marB="71120">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tc>
                  <a:txBody>
                    <a:bodyPr/>
                    <a:lstStyle/>
                    <a:p>
                      <a:pPr marL="0" indent="0">
                        <a:lnSpc>
                          <a:spcPts val="2240"/>
                        </a:lnSpc>
                        <a:buNone/>
                      </a:pPr>
                      <a:r>
                        <a:rPr lang="en-US" sz="1600" b="1" dirty="0">
                          <a:solidFill>
                            <a:srgbClr val="12261B"/>
                          </a:solidFill>
                          <a:latin typeface="Public Sans" pitchFamily="34" charset="0"/>
                          <a:ea typeface="Public Sans" pitchFamily="34" charset="-122"/>
                          <a:cs typeface="Public Sans" pitchFamily="34" charset="-120"/>
                        </a:rPr>
                        <a:t>Date</a:t>
                      </a:r>
                      <a:endParaRPr lang="en-US" sz="1600" dirty="0">
                        <a:latin typeface="Public Sans" charset="0"/>
                        <a:ea typeface="Public Sans" charset="0"/>
                        <a:cs typeface="Public Sans" charset="0"/>
                      </a:endParaRPr>
                    </a:p>
                  </a:txBody>
                  <a:tcPr marL="71120" marR="71120" marT="71120" marB="71120">
                    <a:lnL w="12700" cap="flat" cmpd="sng" algn="ctr">
                      <a:solidFill>
                        <a:srgbClr val="B5B4AD"/>
                      </a:solidFill>
                      <a:prstDash val="solid"/>
                      <a:round/>
                      <a:headEnd type="none" w="med" len="med"/>
                      <a:tailEnd type="none" w="med" len="med"/>
                    </a:lnL>
                    <a:lnR w="12700" cap="flat" cmpd="sng" algn="ctr">
                      <a:solidFill>
                        <a:srgbClr val="B5B4AD"/>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5B4AD"/>
                      </a:solidFill>
                      <a:prstDash val="solid"/>
                      <a:round/>
                      <a:headEnd type="none" w="med" len="med"/>
                      <a:tailEnd type="none" w="med" len="med"/>
                    </a:lnB>
                    <a:solidFill>
                      <a:srgbClr val="E3E1D9"/>
                    </a:solidFill>
                  </a:tcPr>
                </a:tc>
                <a:extLst>
                  <a:ext uri="{0D108BD9-81ED-4DB2-BD59-A6C34878D82A}">
                    <a16:rowId xmlns:a16="http://schemas.microsoft.com/office/drawing/2014/main" val="10000"/>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Pitch</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Proposal and 4-slide pitch</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Whole team</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1 Sep 2026</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5B4AD"/>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4</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EER diagram</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Noppajit</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Early Sep 2026</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2"/>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6</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Schema and 3NF/BCNF</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Noppajit</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26-30 Sep 2026</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3"/>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7</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Database built and seeded</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Jakkaphat</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Sep 2026</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4"/>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8</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SQL queries and reports</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Jakkaphat</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5-6 Oct 2026</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5"/>
                  </a:ext>
                </a:extLst>
              </a:tr>
              <a:tr h="436880">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9</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Web app, demo, final report</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Whole team</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marL="0" indent="0">
                        <a:lnSpc>
                          <a:spcPts val="2240"/>
                        </a:lnSpc>
                        <a:buNone/>
                      </a:pPr>
                      <a:r>
                        <a:rPr lang="en-US" sz="1600" dirty="0">
                          <a:solidFill>
                            <a:srgbClr val="12261B"/>
                          </a:solidFill>
                          <a:latin typeface="Public Sans" pitchFamily="34" charset="0"/>
                          <a:ea typeface="Public Sans" pitchFamily="34" charset="-122"/>
                          <a:cs typeface="Public Sans" pitchFamily="34" charset="-120"/>
                        </a:rPr>
                        <a:t>Oct 2026</a:t>
                      </a:r>
                      <a:endParaRPr lang="en-US" sz="1600" dirty="0">
                        <a:latin typeface="Public Sans" charset="0"/>
                        <a:ea typeface="Public Sans" charset="0"/>
                        <a:cs typeface="Public Sans" charset="0"/>
                      </a:endParaRPr>
                    </a:p>
                  </a:txBody>
                  <a:tcPr marL="71120" marR="71120" marT="71120" marB="71120">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6E"/>
                </a:solidFill>
                <a:latin typeface="Public Sans" pitchFamily="34" charset="0"/>
                <a:ea typeface="Public Sans" pitchFamily="34" charset="-122"/>
                <a:cs typeface="Public Sans" pitchFamily="34" charset="-120"/>
              </a:rPr>
              <a:t>Dates from our design documents and Git history.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3374898"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12 · USER INTERFACE</a:t>
            </a:r>
            <a:endParaRPr lang="en-US" sz="1400" dirty="0"/>
          </a:p>
        </p:txBody>
      </p:sp>
      <p:sp>
        <p:nvSpPr>
          <p:cNvPr id="3" name="Text 1"/>
          <p:cNvSpPr>
            <a:spLocks noGrp="1"/>
          </p:cNvSpPr>
          <p:nvPr>
            <p:ph type="title"/>
          </p:nvPr>
        </p:nvSpPr>
        <p:spPr>
          <a:xfrm>
            <a:off x="812800" y="1137927"/>
            <a:ext cx="3374898"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1B"/>
                </a:solidFill>
                <a:latin typeface="Oswald" pitchFamily="34" charset="0"/>
                <a:ea typeface="Oswald" pitchFamily="34" charset="-122"/>
                <a:cs typeface="Oswald" pitchFamily="34" charset="-120"/>
              </a:rPr>
              <a:t>DASHBOARD</a:t>
            </a:r>
            <a:endParaRPr lang="en-US" sz="3200" dirty="0"/>
          </a:p>
        </p:txBody>
      </p:sp>
      <p:sp>
        <p:nvSpPr>
          <p:cNvPr id="4" name="Text 2"/>
          <p:cNvSpPr/>
          <p:nvPr/>
        </p:nvSpPr>
        <p:spPr>
          <a:xfrm>
            <a:off x="812800" y="1762758"/>
            <a:ext cx="3374898"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261B"/>
                </a:solidFill>
                <a:latin typeface="Public Sans" pitchFamily="34" charset="0"/>
                <a:ea typeface="Public Sans" pitchFamily="34" charset="-122"/>
                <a:cs typeface="Public Sans" pitchFamily="34" charset="-120"/>
              </a:rPr>
              <a:t>Academy overview and upcoming sessions.</a:t>
            </a:r>
            <a:endParaRPr lang="en-US" sz="1600" dirty="0"/>
          </a:p>
        </p:txBody>
      </p:sp>
      <p:sp>
        <p:nvSpPr>
          <p:cNvPr id="5" name="Text 3"/>
          <p:cNvSpPr/>
          <p:nvPr/>
        </p:nvSpPr>
        <p:spPr>
          <a:xfrm>
            <a:off x="812800" y="2509527"/>
            <a:ext cx="337489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Totals for players, classes, coaches and sessions, the next training sessions, and the attendance rate.</a:t>
            </a:r>
            <a:endParaRPr lang="en-US" sz="1400" dirty="0"/>
          </a:p>
        </p:txBody>
      </p:sp>
      <p:sp>
        <p:nvSpPr>
          <p:cNvPr id="6" name="Shape 4"/>
          <p:cNvSpPr/>
          <p:nvPr/>
        </p:nvSpPr>
        <p:spPr>
          <a:xfrm>
            <a:off x="4394200" y="812800"/>
            <a:ext cx="6985000" cy="3981450"/>
          </a:xfrm>
          <a:prstGeom prst="roundRect">
            <a:avLst>
              <a:gd name="adj" fmla="val 1914"/>
            </a:avLst>
          </a:prstGeom>
          <a:solidFill>
            <a:srgbClr val="FFFFFF"/>
          </a:solidFill>
          <a:ln/>
        </p:spPr>
        <p:txBody>
          <a:bodyPr/>
          <a:lstStyle/>
          <a:p>
            <a:endParaRPr lang="en-TH"/>
          </a:p>
        </p:txBody>
      </p:sp>
      <p:pic>
        <p:nvPicPr>
          <p:cNvPr id="7" name="Image 0" descr="FAMS dashboard with academy totals, upcoming training and attendance overview"/>
          <p:cNvPicPr>
            <a:picLocks noChangeAspect="1"/>
          </p:cNvPicPr>
          <p:nvPr/>
        </p:nvPicPr>
        <p:blipFill>
          <a:blip r:embed="rId3"/>
          <a:srcRect l="-53" r="-53"/>
          <a:stretch/>
        </p:blipFill>
        <p:spPr>
          <a:xfrm>
            <a:off x="4400550" y="819150"/>
            <a:ext cx="6972300" cy="3968750"/>
          </a:xfrm>
          <a:prstGeom prst="roundRect">
            <a:avLst>
              <a:gd name="adj" fmla="val 1760"/>
            </a:avLst>
          </a:prstGeom>
        </p:spPr>
      </p:pic>
      <p:sp>
        <p:nvSpPr>
          <p:cNvPr id="8" name="Shape 5"/>
          <p:cNvSpPr/>
          <p:nvPr/>
        </p:nvSpPr>
        <p:spPr>
          <a:xfrm>
            <a:off x="4397375" y="815975"/>
            <a:ext cx="6978650" cy="3975100"/>
          </a:xfrm>
          <a:prstGeom prst="roundRect">
            <a:avLst>
              <a:gd name="adj" fmla="val 1837"/>
            </a:avLst>
          </a:prstGeom>
          <a:noFill/>
          <a:ln w="6350">
            <a:solidFill>
              <a:srgbClr val="DAD7C8"/>
            </a:solidFill>
            <a:prstDash val="solid"/>
          </a:ln>
        </p:spPr>
        <p:txBody>
          <a:bodyPr/>
          <a:lstStyle/>
          <a:p>
            <a:endParaRPr lang="en-TH"/>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3374898"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12 · USER INTERFACE</a:t>
            </a:r>
            <a:endParaRPr lang="en-US" sz="1400" dirty="0"/>
          </a:p>
        </p:txBody>
      </p:sp>
      <p:sp>
        <p:nvSpPr>
          <p:cNvPr id="3" name="Text 1"/>
          <p:cNvSpPr>
            <a:spLocks noGrp="1"/>
          </p:cNvSpPr>
          <p:nvPr>
            <p:ph type="title"/>
          </p:nvPr>
        </p:nvSpPr>
        <p:spPr>
          <a:xfrm>
            <a:off x="812800" y="1137927"/>
            <a:ext cx="3374898"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1B"/>
                </a:solidFill>
                <a:latin typeface="Oswald" pitchFamily="34" charset="0"/>
                <a:ea typeface="Oswald" pitchFamily="34" charset="-122"/>
                <a:cs typeface="Oswald" pitchFamily="34" charset="-120"/>
              </a:rPr>
              <a:t>PLAYERS</a:t>
            </a:r>
            <a:endParaRPr lang="en-US" sz="3200" dirty="0"/>
          </a:p>
        </p:txBody>
      </p:sp>
      <p:sp>
        <p:nvSpPr>
          <p:cNvPr id="4" name="Text 2"/>
          <p:cNvSpPr/>
          <p:nvPr/>
        </p:nvSpPr>
        <p:spPr>
          <a:xfrm>
            <a:off x="812800" y="1762758"/>
            <a:ext cx="3374898"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261B"/>
                </a:solidFill>
                <a:latin typeface="Public Sans" pitchFamily="34" charset="0"/>
                <a:ea typeface="Public Sans" pitchFamily="34" charset="-122"/>
                <a:cs typeface="Public Sans" pitchFamily="34" charset="-120"/>
              </a:rPr>
              <a:t>Search and manage player records.</a:t>
            </a:r>
            <a:endParaRPr lang="en-US" sz="1600" dirty="0"/>
          </a:p>
        </p:txBody>
      </p:sp>
      <p:sp>
        <p:nvSpPr>
          <p:cNvPr id="5" name="Text 3"/>
          <p:cNvSpPr/>
          <p:nvPr/>
        </p:nvSpPr>
        <p:spPr>
          <a:xfrm>
            <a:off x="812800" y="2509527"/>
            <a:ext cx="337489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Each row shows age group and position, with edit and delete actions. A new player needs at least one guardian.</a:t>
            </a:r>
            <a:endParaRPr lang="en-US" sz="1400" dirty="0"/>
          </a:p>
        </p:txBody>
      </p:sp>
      <p:sp>
        <p:nvSpPr>
          <p:cNvPr id="6" name="Shape 4"/>
          <p:cNvSpPr/>
          <p:nvPr/>
        </p:nvSpPr>
        <p:spPr>
          <a:xfrm>
            <a:off x="4394200" y="812800"/>
            <a:ext cx="6985000" cy="3981450"/>
          </a:xfrm>
          <a:prstGeom prst="roundRect">
            <a:avLst>
              <a:gd name="adj" fmla="val 1914"/>
            </a:avLst>
          </a:prstGeom>
          <a:solidFill>
            <a:srgbClr val="FFFFFF"/>
          </a:solidFill>
          <a:ln/>
        </p:spPr>
        <p:txBody>
          <a:bodyPr/>
          <a:lstStyle/>
          <a:p>
            <a:endParaRPr lang="en-TH"/>
          </a:p>
        </p:txBody>
      </p:sp>
      <p:pic>
        <p:nvPicPr>
          <p:cNvPr id="7" name="Image 0" descr="FAMS players page with search box and player records"/>
          <p:cNvPicPr>
            <a:picLocks noChangeAspect="1"/>
          </p:cNvPicPr>
          <p:nvPr/>
        </p:nvPicPr>
        <p:blipFill>
          <a:blip r:embed="rId3"/>
          <a:srcRect t="-75" b="-75"/>
          <a:stretch/>
        </p:blipFill>
        <p:spPr>
          <a:xfrm>
            <a:off x="4400550" y="819150"/>
            <a:ext cx="6972300" cy="3968750"/>
          </a:xfrm>
          <a:prstGeom prst="roundRect">
            <a:avLst>
              <a:gd name="adj" fmla="val 1760"/>
            </a:avLst>
          </a:prstGeom>
        </p:spPr>
      </p:pic>
      <p:sp>
        <p:nvSpPr>
          <p:cNvPr id="8" name="Shape 5"/>
          <p:cNvSpPr/>
          <p:nvPr/>
        </p:nvSpPr>
        <p:spPr>
          <a:xfrm>
            <a:off x="4397375" y="815975"/>
            <a:ext cx="6978650" cy="3975100"/>
          </a:xfrm>
          <a:prstGeom prst="roundRect">
            <a:avLst>
              <a:gd name="adj" fmla="val 1837"/>
            </a:avLst>
          </a:prstGeom>
          <a:noFill/>
          <a:ln w="6350">
            <a:solidFill>
              <a:srgbClr val="DAD7C8"/>
            </a:solidFill>
            <a:prstDash val="solid"/>
          </a:ln>
        </p:spPr>
        <p:txBody>
          <a:bodyPr/>
          <a:lstStyle/>
          <a:p>
            <a:endParaRPr lang="en-TH"/>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3374898"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12 · USER INTERFACE</a:t>
            </a:r>
            <a:endParaRPr lang="en-US" sz="1400" dirty="0"/>
          </a:p>
        </p:txBody>
      </p:sp>
      <p:sp>
        <p:nvSpPr>
          <p:cNvPr id="3" name="Text 1"/>
          <p:cNvSpPr>
            <a:spLocks noGrp="1"/>
          </p:cNvSpPr>
          <p:nvPr>
            <p:ph type="title"/>
          </p:nvPr>
        </p:nvSpPr>
        <p:spPr>
          <a:xfrm>
            <a:off x="812800" y="1137927"/>
            <a:ext cx="3374898"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1B"/>
                </a:solidFill>
                <a:latin typeface="Oswald" pitchFamily="34" charset="0"/>
                <a:ea typeface="Oswald" pitchFamily="34" charset="-122"/>
                <a:cs typeface="Oswald" pitchFamily="34" charset="-120"/>
              </a:rPr>
              <a:t>CLASSES</a:t>
            </a:r>
            <a:endParaRPr lang="en-US" sz="3200" dirty="0"/>
          </a:p>
        </p:txBody>
      </p:sp>
      <p:sp>
        <p:nvSpPr>
          <p:cNvPr id="4" name="Text 2"/>
          <p:cNvSpPr/>
          <p:nvPr/>
        </p:nvSpPr>
        <p:spPr>
          <a:xfrm>
            <a:off x="812800" y="1762758"/>
            <a:ext cx="3374898"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261B"/>
                </a:solidFill>
                <a:latin typeface="Public Sans" pitchFamily="34" charset="0"/>
                <a:ea typeface="Public Sans" pitchFamily="34" charset="-122"/>
                <a:cs typeface="Public Sans" pitchFamily="34" charset="-120"/>
              </a:rPr>
              <a:t>Manage classes, coaches and capacities.</a:t>
            </a:r>
            <a:endParaRPr lang="en-US" sz="1600" dirty="0"/>
          </a:p>
        </p:txBody>
      </p:sp>
      <p:sp>
        <p:nvSpPr>
          <p:cNvPr id="5" name="Text 3"/>
          <p:cNvSpPr/>
          <p:nvPr/>
        </p:nvSpPr>
        <p:spPr>
          <a:xfrm>
            <a:off x="812800" y="2509527"/>
            <a:ext cx="337489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Every class has one coach, one program and one age group, plus a capacity that registrations cannot exceed.</a:t>
            </a:r>
            <a:endParaRPr lang="en-US" sz="1400" dirty="0"/>
          </a:p>
        </p:txBody>
      </p:sp>
      <p:sp>
        <p:nvSpPr>
          <p:cNvPr id="6" name="Shape 4"/>
          <p:cNvSpPr/>
          <p:nvPr/>
        </p:nvSpPr>
        <p:spPr>
          <a:xfrm>
            <a:off x="4394200" y="812800"/>
            <a:ext cx="6985000" cy="3981450"/>
          </a:xfrm>
          <a:prstGeom prst="roundRect">
            <a:avLst>
              <a:gd name="adj" fmla="val 1914"/>
            </a:avLst>
          </a:prstGeom>
          <a:solidFill>
            <a:srgbClr val="FFFFFF"/>
          </a:solidFill>
          <a:ln/>
        </p:spPr>
        <p:txBody>
          <a:bodyPr/>
          <a:lstStyle/>
          <a:p>
            <a:endParaRPr lang="en-TH"/>
          </a:p>
        </p:txBody>
      </p:sp>
      <p:pic>
        <p:nvPicPr>
          <p:cNvPr id="7" name="Image 0" descr="FAMS classes page listing classes with coaches and capacities"/>
          <p:cNvPicPr>
            <a:picLocks noChangeAspect="1"/>
          </p:cNvPicPr>
          <p:nvPr/>
        </p:nvPicPr>
        <p:blipFill>
          <a:blip r:embed="rId3"/>
          <a:srcRect l="-10" r="-10"/>
          <a:stretch/>
        </p:blipFill>
        <p:spPr>
          <a:xfrm>
            <a:off x="4400550" y="819150"/>
            <a:ext cx="6972300" cy="3968750"/>
          </a:xfrm>
          <a:prstGeom prst="roundRect">
            <a:avLst>
              <a:gd name="adj" fmla="val 1760"/>
            </a:avLst>
          </a:prstGeom>
        </p:spPr>
      </p:pic>
      <p:sp>
        <p:nvSpPr>
          <p:cNvPr id="8" name="Shape 5"/>
          <p:cNvSpPr/>
          <p:nvPr/>
        </p:nvSpPr>
        <p:spPr>
          <a:xfrm>
            <a:off x="4397375" y="815975"/>
            <a:ext cx="6978650" cy="3975100"/>
          </a:xfrm>
          <a:prstGeom prst="roundRect">
            <a:avLst>
              <a:gd name="adj" fmla="val 1837"/>
            </a:avLst>
          </a:prstGeom>
          <a:noFill/>
          <a:ln w="6350">
            <a:solidFill>
              <a:srgbClr val="DAD7C8"/>
            </a:solidFill>
            <a:prstDash val="solid"/>
          </a:ln>
        </p:spPr>
        <p:txBody>
          <a:bodyPr/>
          <a:lstStyle/>
          <a:p>
            <a:endParaRPr lang="en-TH"/>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3374898"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12 · USER INTERFACE</a:t>
            </a:r>
            <a:endParaRPr lang="en-US" sz="1400" dirty="0"/>
          </a:p>
        </p:txBody>
      </p:sp>
      <p:sp>
        <p:nvSpPr>
          <p:cNvPr id="3" name="Text 1"/>
          <p:cNvSpPr>
            <a:spLocks noGrp="1"/>
          </p:cNvSpPr>
          <p:nvPr>
            <p:ph type="title"/>
          </p:nvPr>
        </p:nvSpPr>
        <p:spPr>
          <a:xfrm>
            <a:off x="812800" y="1137927"/>
            <a:ext cx="3374898"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2261B"/>
                </a:solidFill>
                <a:latin typeface="Oswald" pitchFamily="34" charset="0"/>
                <a:ea typeface="Oswald" pitchFamily="34" charset="-122"/>
                <a:cs typeface="Oswald" pitchFamily="34" charset="-120"/>
              </a:rPr>
              <a:t>REGISTRATIONS</a:t>
            </a:r>
            <a:endParaRPr lang="en-US" sz="3000" dirty="0"/>
          </a:p>
        </p:txBody>
      </p:sp>
      <p:sp>
        <p:nvSpPr>
          <p:cNvPr id="4" name="Text 2"/>
          <p:cNvSpPr/>
          <p:nvPr/>
        </p:nvSpPr>
        <p:spPr>
          <a:xfrm>
            <a:off x="812800" y="1734827"/>
            <a:ext cx="3374898"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261B"/>
                </a:solidFill>
                <a:latin typeface="Public Sans" pitchFamily="34" charset="0"/>
                <a:ea typeface="Public Sans" pitchFamily="34" charset="-122"/>
                <a:cs typeface="Public Sans" pitchFamily="34" charset="-120"/>
              </a:rPr>
              <a:t>View and update player enrollments.</a:t>
            </a:r>
            <a:endParaRPr lang="en-US" sz="1600" dirty="0"/>
          </a:p>
        </p:txBody>
      </p:sp>
      <p:sp>
        <p:nvSpPr>
          <p:cNvPr id="5" name="Text 3"/>
          <p:cNvSpPr/>
          <p:nvPr/>
        </p:nvSpPr>
        <p:spPr>
          <a:xfrm>
            <a:off x="812800" y="2481585"/>
            <a:ext cx="337489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Status is Active, Pending, Cancelled or Completed. A full class rejects another active registration.</a:t>
            </a:r>
            <a:endParaRPr lang="en-US" sz="1400" dirty="0"/>
          </a:p>
        </p:txBody>
      </p:sp>
      <p:sp>
        <p:nvSpPr>
          <p:cNvPr id="6" name="Shape 4"/>
          <p:cNvSpPr/>
          <p:nvPr/>
        </p:nvSpPr>
        <p:spPr>
          <a:xfrm>
            <a:off x="4394200" y="812800"/>
            <a:ext cx="6985000" cy="3981450"/>
          </a:xfrm>
          <a:prstGeom prst="roundRect">
            <a:avLst>
              <a:gd name="adj" fmla="val 1914"/>
            </a:avLst>
          </a:prstGeom>
          <a:solidFill>
            <a:srgbClr val="FFFFFF"/>
          </a:solidFill>
          <a:ln/>
        </p:spPr>
        <p:txBody>
          <a:bodyPr/>
          <a:lstStyle/>
          <a:p>
            <a:endParaRPr lang="en-TH"/>
          </a:p>
        </p:txBody>
      </p:sp>
      <p:pic>
        <p:nvPicPr>
          <p:cNvPr id="7" name="Image 0" descr="FAMS registrations page with a status selector for each enrollment"/>
          <p:cNvPicPr>
            <a:picLocks noChangeAspect="1"/>
          </p:cNvPicPr>
          <p:nvPr/>
        </p:nvPicPr>
        <p:blipFill>
          <a:blip r:embed="rId3"/>
          <a:srcRect l="-96" r="-96"/>
          <a:stretch/>
        </p:blipFill>
        <p:spPr>
          <a:xfrm>
            <a:off x="4400550" y="819150"/>
            <a:ext cx="6972300" cy="3968750"/>
          </a:xfrm>
          <a:prstGeom prst="roundRect">
            <a:avLst>
              <a:gd name="adj" fmla="val 1760"/>
            </a:avLst>
          </a:prstGeom>
        </p:spPr>
      </p:pic>
      <p:sp>
        <p:nvSpPr>
          <p:cNvPr id="8" name="Shape 5"/>
          <p:cNvSpPr/>
          <p:nvPr/>
        </p:nvSpPr>
        <p:spPr>
          <a:xfrm>
            <a:off x="4397375" y="815975"/>
            <a:ext cx="6978650" cy="3975100"/>
          </a:xfrm>
          <a:prstGeom prst="roundRect">
            <a:avLst>
              <a:gd name="adj" fmla="val 1837"/>
            </a:avLst>
          </a:prstGeom>
          <a:noFill/>
          <a:ln w="6350">
            <a:solidFill>
              <a:srgbClr val="DAD7C8"/>
            </a:solidFill>
            <a:prstDash val="solid"/>
          </a:ln>
        </p:spPr>
        <p:txBody>
          <a:bodyPr/>
          <a:lstStyle/>
          <a:p>
            <a:endParaRPr lang="en-TH"/>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3374898"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12 · USER INTERFACE</a:t>
            </a:r>
            <a:endParaRPr lang="en-US" sz="1400" dirty="0"/>
          </a:p>
        </p:txBody>
      </p:sp>
      <p:sp>
        <p:nvSpPr>
          <p:cNvPr id="3" name="Text 1"/>
          <p:cNvSpPr>
            <a:spLocks noGrp="1"/>
          </p:cNvSpPr>
          <p:nvPr>
            <p:ph type="title"/>
          </p:nvPr>
        </p:nvSpPr>
        <p:spPr>
          <a:xfrm>
            <a:off x="812800" y="1137927"/>
            <a:ext cx="3374898"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1B"/>
                </a:solidFill>
                <a:latin typeface="Oswald" pitchFamily="34" charset="0"/>
                <a:ea typeface="Oswald" pitchFamily="34" charset="-122"/>
                <a:cs typeface="Oswald" pitchFamily="34" charset="-120"/>
              </a:rPr>
              <a:t>ATTENDANCE</a:t>
            </a:r>
            <a:endParaRPr lang="en-US" sz="3200" dirty="0"/>
          </a:p>
        </p:txBody>
      </p:sp>
      <p:sp>
        <p:nvSpPr>
          <p:cNvPr id="4" name="Text 2"/>
          <p:cNvSpPr/>
          <p:nvPr/>
        </p:nvSpPr>
        <p:spPr>
          <a:xfrm>
            <a:off x="812800" y="1762758"/>
            <a:ext cx="3374898"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261B"/>
                </a:solidFill>
                <a:latin typeface="Public Sans" pitchFamily="34" charset="0"/>
                <a:ea typeface="Public Sans" pitchFamily="34" charset="-122"/>
                <a:cs typeface="Public Sans" pitchFamily="34" charset="-120"/>
              </a:rPr>
              <a:t>Record training-session attendance.</a:t>
            </a:r>
            <a:endParaRPr lang="en-US" sz="1600" dirty="0"/>
          </a:p>
        </p:txBody>
      </p:sp>
      <p:sp>
        <p:nvSpPr>
          <p:cNvPr id="5" name="Text 3"/>
          <p:cNvSpPr/>
          <p:nvPr/>
        </p:nvSpPr>
        <p:spPr>
          <a:xfrm>
            <a:off x="812800" y="2509527"/>
            <a:ext cx="337489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Choose a session, then mark each registered player Present, Absent, Late or Excused.</a:t>
            </a:r>
            <a:endParaRPr lang="en-US" sz="1400" dirty="0"/>
          </a:p>
        </p:txBody>
      </p:sp>
      <p:sp>
        <p:nvSpPr>
          <p:cNvPr id="6" name="Shape 4"/>
          <p:cNvSpPr/>
          <p:nvPr/>
        </p:nvSpPr>
        <p:spPr>
          <a:xfrm>
            <a:off x="4394200" y="812800"/>
            <a:ext cx="6985000" cy="3981450"/>
          </a:xfrm>
          <a:prstGeom prst="roundRect">
            <a:avLst>
              <a:gd name="adj" fmla="val 1914"/>
            </a:avLst>
          </a:prstGeom>
          <a:solidFill>
            <a:srgbClr val="FFFFFF"/>
          </a:solidFill>
          <a:ln/>
        </p:spPr>
        <p:txBody>
          <a:bodyPr/>
          <a:lstStyle/>
          <a:p>
            <a:endParaRPr lang="en-TH"/>
          </a:p>
        </p:txBody>
      </p:sp>
      <p:pic>
        <p:nvPicPr>
          <p:cNvPr id="7" name="Image 0" descr="FAMS attendance page with a status menu for each player in a session"/>
          <p:cNvPicPr>
            <a:picLocks noChangeAspect="1"/>
          </p:cNvPicPr>
          <p:nvPr/>
        </p:nvPicPr>
        <p:blipFill>
          <a:blip r:embed="rId3"/>
          <a:srcRect l="-96" r="-96"/>
          <a:stretch/>
        </p:blipFill>
        <p:spPr>
          <a:xfrm>
            <a:off x="4400550" y="819150"/>
            <a:ext cx="6972300" cy="3968750"/>
          </a:xfrm>
          <a:prstGeom prst="roundRect">
            <a:avLst>
              <a:gd name="adj" fmla="val 1760"/>
            </a:avLst>
          </a:prstGeom>
        </p:spPr>
      </p:pic>
      <p:sp>
        <p:nvSpPr>
          <p:cNvPr id="8" name="Shape 5"/>
          <p:cNvSpPr/>
          <p:nvPr/>
        </p:nvSpPr>
        <p:spPr>
          <a:xfrm>
            <a:off x="4397375" y="815975"/>
            <a:ext cx="6978650" cy="3975100"/>
          </a:xfrm>
          <a:prstGeom prst="roundRect">
            <a:avLst>
              <a:gd name="adj" fmla="val 1837"/>
            </a:avLst>
          </a:prstGeom>
          <a:noFill/>
          <a:ln w="6350">
            <a:solidFill>
              <a:srgbClr val="DAD7C8"/>
            </a:solidFill>
            <a:prstDash val="solid"/>
          </a:ln>
        </p:spPr>
        <p:txBody>
          <a:bodyPr/>
          <a:lstStyle/>
          <a:p>
            <a:endParaRPr lang="en-TH"/>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A"/>
        </a:solidFill>
        <a:effectLst/>
      </p:bgPr>
    </p:bg>
    <p:spTree>
      <p:nvGrpSpPr>
        <p:cNvPr id="1" name=""/>
        <p:cNvGrpSpPr/>
        <p:nvPr/>
      </p:nvGrpSpPr>
      <p:grpSpPr>
        <a:xfrm>
          <a:off x="0" y="0"/>
          <a:ext cx="0" cy="0"/>
          <a:chOff x="0" y="0"/>
          <a:chExt cx="0" cy="0"/>
        </a:xfrm>
      </p:grpSpPr>
      <p:sp>
        <p:nvSpPr>
          <p:cNvPr id="2" name="Text 0"/>
          <p:cNvSpPr/>
          <p:nvPr/>
        </p:nvSpPr>
        <p:spPr>
          <a:xfrm>
            <a:off x="812800" y="812800"/>
            <a:ext cx="3374898"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F7A45"/>
                </a:solidFill>
                <a:latin typeface="Public Sans" pitchFamily="34" charset="0"/>
                <a:ea typeface="Public Sans" pitchFamily="34" charset="-122"/>
                <a:cs typeface="Public Sans" pitchFamily="34" charset="-120"/>
              </a:rPr>
              <a:t>12 · USER INTERFACE</a:t>
            </a:r>
            <a:endParaRPr lang="en-US" sz="1400" dirty="0"/>
          </a:p>
        </p:txBody>
      </p:sp>
      <p:sp>
        <p:nvSpPr>
          <p:cNvPr id="3" name="Text 1"/>
          <p:cNvSpPr>
            <a:spLocks noGrp="1"/>
          </p:cNvSpPr>
          <p:nvPr>
            <p:ph type="title"/>
          </p:nvPr>
        </p:nvSpPr>
        <p:spPr>
          <a:xfrm>
            <a:off x="812800" y="1137927"/>
            <a:ext cx="3374898"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61B"/>
                </a:solidFill>
                <a:latin typeface="Oswald" pitchFamily="34" charset="0"/>
                <a:ea typeface="Oswald" pitchFamily="34" charset="-122"/>
                <a:cs typeface="Oswald" pitchFamily="34" charset="-120"/>
              </a:rPr>
              <a:t>SQL REPORTS</a:t>
            </a:r>
            <a:endParaRPr lang="en-US" sz="3200" dirty="0"/>
          </a:p>
        </p:txBody>
      </p:sp>
      <p:sp>
        <p:nvSpPr>
          <p:cNvPr id="4" name="Text 2"/>
          <p:cNvSpPr/>
          <p:nvPr/>
        </p:nvSpPr>
        <p:spPr>
          <a:xfrm>
            <a:off x="812800" y="1762758"/>
            <a:ext cx="3374898"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261B"/>
                </a:solidFill>
                <a:latin typeface="Public Sans" pitchFamily="34" charset="0"/>
                <a:ea typeface="Public Sans" pitchFamily="34" charset="-122"/>
                <a:cs typeface="Public Sans" pitchFamily="34" charset="-120"/>
              </a:rPr>
              <a:t>View SQL results by age group.</a:t>
            </a:r>
            <a:endParaRPr lang="en-US" sz="1600" dirty="0"/>
          </a:p>
        </p:txBody>
      </p:sp>
      <p:sp>
        <p:nvSpPr>
          <p:cNvPr id="5" name="Text 3"/>
          <p:cNvSpPr/>
          <p:nvPr/>
        </p:nvSpPr>
        <p:spPr>
          <a:xfrm>
            <a:off x="812800" y="2225042"/>
            <a:ext cx="3374898"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42"/>
                </a:solidFill>
                <a:latin typeface="Public Sans" pitchFamily="34" charset="0"/>
                <a:ea typeface="Public Sans" pitchFamily="34" charset="-122"/>
                <a:cs typeface="Public Sans" pitchFamily="34" charset="-120"/>
              </a:rPr>
              <a:t>Pick a report from the list and see the query result, for example players per age group.</a:t>
            </a:r>
            <a:endParaRPr lang="en-US" sz="1400" dirty="0"/>
          </a:p>
        </p:txBody>
      </p:sp>
      <p:sp>
        <p:nvSpPr>
          <p:cNvPr id="6" name="Shape 4"/>
          <p:cNvSpPr/>
          <p:nvPr/>
        </p:nvSpPr>
        <p:spPr>
          <a:xfrm>
            <a:off x="4394200" y="812800"/>
            <a:ext cx="6985000" cy="3981450"/>
          </a:xfrm>
          <a:prstGeom prst="roundRect">
            <a:avLst>
              <a:gd name="adj" fmla="val 1914"/>
            </a:avLst>
          </a:prstGeom>
          <a:solidFill>
            <a:srgbClr val="FFFFFF"/>
          </a:solidFill>
          <a:ln/>
        </p:spPr>
        <p:txBody>
          <a:bodyPr/>
          <a:lstStyle/>
          <a:p>
            <a:endParaRPr lang="en-TH"/>
          </a:p>
        </p:txBody>
      </p:sp>
      <p:pic>
        <p:nvPicPr>
          <p:cNvPr id="7" name="Image 0" descr="FAMS SQL reports page showing players by age group"/>
          <p:cNvPicPr>
            <a:picLocks noChangeAspect="1"/>
          </p:cNvPicPr>
          <p:nvPr/>
        </p:nvPicPr>
        <p:blipFill>
          <a:blip r:embed="rId3"/>
          <a:srcRect l="-10" r="-10"/>
          <a:stretch/>
        </p:blipFill>
        <p:spPr>
          <a:xfrm>
            <a:off x="4400550" y="819150"/>
            <a:ext cx="6972300" cy="3968750"/>
          </a:xfrm>
          <a:prstGeom prst="roundRect">
            <a:avLst>
              <a:gd name="adj" fmla="val 1760"/>
            </a:avLst>
          </a:prstGeom>
        </p:spPr>
      </p:pic>
      <p:sp>
        <p:nvSpPr>
          <p:cNvPr id="8" name="Shape 5"/>
          <p:cNvSpPr/>
          <p:nvPr/>
        </p:nvSpPr>
        <p:spPr>
          <a:xfrm>
            <a:off x="4397375" y="815975"/>
            <a:ext cx="6978650" cy="3975100"/>
          </a:xfrm>
          <a:prstGeom prst="roundRect">
            <a:avLst>
              <a:gd name="adj" fmla="val 1837"/>
            </a:avLst>
          </a:prstGeom>
          <a:noFill/>
          <a:ln w="6350">
            <a:solidFill>
              <a:srgbClr val="DAD7C8"/>
            </a:solidFill>
            <a:prstDash val="solid"/>
          </a:ln>
        </p:spPr>
        <p:txBody>
          <a:bodyPr/>
          <a:lstStyle/>
          <a:p>
            <a:endParaRPr lang="en-TH"/>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2A1C"/>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7112000" y="1270000"/>
            <a:ext cx="3937000" cy="3937000"/>
          </a:xfrm>
          <a:prstGeom prst="rect">
            <a:avLst/>
          </a:prstGeom>
        </p:spPr>
      </p:pic>
      <p:pic>
        <p:nvPicPr>
          <p:cNvPr id="3" name="Image 1" descr="ellipse"/>
          <p:cNvPicPr>
            <a:picLocks noChangeAspect="1"/>
          </p:cNvPicPr>
          <p:nvPr/>
        </p:nvPicPr>
        <p:blipFill>
          <a:blip r:embed="rId4"/>
          <a:srcRect/>
          <a:stretch/>
        </p:blipFill>
        <p:spPr>
          <a:xfrm>
            <a:off x="8864600" y="3022600"/>
            <a:ext cx="431800" cy="431800"/>
          </a:xfrm>
          <a:prstGeom prst="rect">
            <a:avLst/>
          </a:prstGeom>
        </p:spPr>
      </p:pic>
      <p:sp>
        <p:nvSpPr>
          <p:cNvPr id="4" name="Text 0"/>
          <p:cNvSpPr/>
          <p:nvPr/>
        </p:nvSpPr>
        <p:spPr>
          <a:xfrm>
            <a:off x="812800" y="2202656"/>
            <a:ext cx="5886450" cy="274320"/>
          </a:xfrm>
          <a:prstGeom prst="rect">
            <a:avLst/>
          </a:prstGeom>
          <a:noFill/>
          <a:ln/>
        </p:spPr>
        <p:txBody>
          <a:bodyPr wrap="square" lIns="0" tIns="0" rIns="0" bIns="0" rtlCol="0" anchor="t">
            <a:normAutofit/>
          </a:bodyPr>
          <a:lstStyle/>
          <a:p>
            <a:pPr marL="0" indent="0" algn="l">
              <a:lnSpc>
                <a:spcPts val="1960"/>
              </a:lnSpc>
              <a:buNone/>
            </a:pPr>
            <a:r>
              <a:rPr lang="en-US" sz="1400" b="1" kern="0" spc="300" dirty="0">
                <a:solidFill>
                  <a:srgbClr val="C8F03C"/>
                </a:solidFill>
                <a:latin typeface="Public Sans" pitchFamily="34" charset="0"/>
                <a:ea typeface="Public Sans" pitchFamily="34" charset="-122"/>
                <a:cs typeface="Public Sans" pitchFamily="34" charset="-120"/>
              </a:rPr>
              <a:t>THANK YOU</a:t>
            </a:r>
            <a:endParaRPr lang="en-US" sz="1400" dirty="0"/>
          </a:p>
        </p:txBody>
      </p:sp>
      <p:sp>
        <p:nvSpPr>
          <p:cNvPr id="5" name="Text 1"/>
          <p:cNvSpPr>
            <a:spLocks noGrp="1"/>
          </p:cNvSpPr>
          <p:nvPr>
            <p:ph type="title"/>
          </p:nvPr>
        </p:nvSpPr>
        <p:spPr>
          <a:xfrm>
            <a:off x="812800" y="2680184"/>
            <a:ext cx="5886450" cy="880348"/>
          </a:xfrm>
          <a:prstGeom prst="rect">
            <a:avLst/>
          </a:prstGeom>
          <a:noFill/>
          <a:ln/>
        </p:spPr>
        <p:txBody>
          <a:bodyPr wrap="square" lIns="0" tIns="0" rIns="0" bIns="0" rtlCol="0" anchor="t">
            <a:normAutofit/>
          </a:bodyPr>
          <a:lstStyle/>
          <a:p>
            <a:pPr marL="0" indent="0" algn="l">
              <a:lnSpc>
                <a:spcPts val="6732"/>
              </a:lnSpc>
              <a:buNone/>
            </a:pPr>
            <a:r>
              <a:rPr lang="en-US" sz="6600" b="1" i="0" dirty="0">
                <a:solidFill>
                  <a:srgbClr val="F5F3EA"/>
                </a:solidFill>
                <a:latin typeface="Oswald" pitchFamily="34" charset="0"/>
                <a:ea typeface="Oswald" pitchFamily="34" charset="-122"/>
                <a:cs typeface="Oswald" pitchFamily="34" charset="-120"/>
              </a:rPr>
              <a:t>QUESTIONS?</a:t>
            </a:r>
            <a:endParaRPr lang="en-US" sz="6600" dirty="0"/>
          </a:p>
        </p:txBody>
      </p:sp>
      <p:sp>
        <p:nvSpPr>
          <p:cNvPr id="6" name="Text 2"/>
          <p:cNvSpPr/>
          <p:nvPr/>
        </p:nvSpPr>
        <p:spPr>
          <a:xfrm>
            <a:off x="812800" y="3763727"/>
            <a:ext cx="6299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4EBE4"/>
                </a:solidFill>
                <a:latin typeface="Public Sans" pitchFamily="34" charset="0"/>
                <a:ea typeface="Public Sans" pitchFamily="34" charset="-122"/>
                <a:cs typeface="Public Sans" pitchFamily="34" charset="-120"/>
              </a:rPr>
              <a:t>Source code:</a:t>
            </a:r>
            <a:r>
              <a:rPr lang="en-US" sz="1500" dirty="0">
                <a:solidFill>
                  <a:srgbClr val="E4EBE4"/>
                </a:solidFill>
                <a:latin typeface="Public Sans" pitchFamily="34" charset="0"/>
                <a:ea typeface="Public Sans" pitchFamily="34" charset="-122"/>
                <a:cs typeface="Public Sans" pitchFamily="34" charset="-120"/>
              </a:rPr>
              <a:t> github.com/JakPz/Database-Project-Second_Year-</a:t>
            </a:r>
            <a:endParaRPr lang="en-US" sz="1500" dirty="0"/>
          </a:p>
        </p:txBody>
      </p:sp>
      <p:sp>
        <p:nvSpPr>
          <p:cNvPr id="7" name="Text 3"/>
          <p:cNvSpPr/>
          <p:nvPr/>
        </p:nvSpPr>
        <p:spPr>
          <a:xfrm>
            <a:off x="812800" y="4093927"/>
            <a:ext cx="58864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3C6"/>
                </a:solidFill>
                <a:latin typeface="Public Sans" pitchFamily="34" charset="0"/>
                <a:ea typeface="Public Sans" pitchFamily="34" charset="-122"/>
                <a:cs typeface="Public Sans" pitchFamily="34" charset="-120"/>
              </a:rPr>
              <a:t>Noppajit Jadsorn · 682115020</a:t>
            </a:r>
            <a:endParaRPr lang="en-US" sz="1400" dirty="0"/>
          </a:p>
        </p:txBody>
      </p:sp>
      <p:sp>
        <p:nvSpPr>
          <p:cNvPr id="8" name="Text 4"/>
          <p:cNvSpPr/>
          <p:nvPr/>
        </p:nvSpPr>
        <p:spPr>
          <a:xfrm>
            <a:off x="812800" y="4406342"/>
            <a:ext cx="58864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3C6"/>
                </a:solidFill>
                <a:latin typeface="Public Sans" pitchFamily="34" charset="0"/>
                <a:ea typeface="Public Sans" pitchFamily="34" charset="-122"/>
                <a:cs typeface="Public Sans" pitchFamily="34" charset="-120"/>
              </a:rPr>
              <a:t>Jakkaphat Didsabanjong · 682115008</a:t>
            </a:r>
            <a:endParaRPr lang="en-US" sz="1400" dirty="0"/>
          </a:p>
        </p:txBody>
      </p:sp>
    </p:spTree>
  </p:cSld>
  <p:clrMapOvr>
    <a:masterClrMapping/>
  </p:clrMapOvr>
</p:sld>
</file>

<file path=ppt/theme/theme1.xml><?xml version="1.0" encoding="utf-8"?>
<a:theme xmlns:a="http://schemas.openxmlformats.org/drawingml/2006/main" name="APEX Youth Football Academy FAMS">
  <a:themeElements>
    <a:clrScheme name="APEX Youth Football Academy FAMS">
      <a:dk1>
        <a:srgbClr val="12261B"/>
      </a:dk1>
      <a:lt1>
        <a:srgbClr val="F5F3EA"/>
      </a:lt1>
      <a:dk2>
        <a:srgbClr val="4B594F"/>
      </a:dk2>
      <a:lt2>
        <a:srgbClr val="DEDFD5"/>
      </a:lt2>
      <a:accent1>
        <a:srgbClr val="1F7A45"/>
      </a:accent1>
      <a:accent2>
        <a:srgbClr val="C8F03C"/>
      </a:accent2>
      <a:accent3>
        <a:srgbClr val="3E4A42"/>
      </a:accent3>
      <a:accent4>
        <a:srgbClr val="6B766E"/>
      </a:accent4>
      <a:accent5>
        <a:srgbClr val="BFD3C6"/>
      </a:accent5>
      <a:accent6>
        <a:srgbClr val="9DB8A8"/>
      </a:accent6>
      <a:hlink>
        <a:srgbClr val="0563C1"/>
      </a:hlink>
      <a:folHlink>
        <a:srgbClr val="954F72"/>
      </a:folHlink>
    </a:clrScheme>
    <a:fontScheme name="APEX Youth Football Academy FAMS">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3074</Words>
  <Application>Microsoft Macintosh PowerPoint</Application>
  <PresentationFormat>Widescreen</PresentationFormat>
  <Paragraphs>359</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Courier New</vt:lpstr>
      <vt:lpstr>Oswald</vt:lpstr>
      <vt:lpstr>Public Sans</vt:lpstr>
      <vt:lpstr>APEX Youth Football Academy FAMS</vt:lpstr>
      <vt:lpstr>APEX YOUTH FOOTBALL ACADEMY</vt:lpstr>
      <vt:lpstr>A YOUTH ACADEMY RUN ON SPREADSHEETS</vt:lpstr>
      <vt:lpstr>ACCURATE LINKS BETWEEN PLAYERS, CLASSES AND ATTENDANCE</vt:lpstr>
      <vt:lpstr>26 RULES IN SEVEN AREAS</vt:lpstr>
      <vt:lpstr>EER DIAGRAM</vt:lpstr>
      <vt:lpstr>14 CORE RELATIONS AND 2 SUPPORTING</vt:lpstr>
      <vt:lpstr>FROM THREE FORMS TO BCNF</vt:lpstr>
      <vt:lpstr>EER TO RELATIONAL SCHEMA</vt:lpstr>
      <vt:lpstr>CONSTRAINTS THAT ENFORCE THE RULES</vt:lpstr>
      <vt:lpstr>REGISTERING A PLAYER, ATOMICALLY</vt:lpstr>
      <vt:lpstr>10 BUSINESS REPORTS IN PLAIN SQL</vt:lpstr>
      <vt:lpstr>THREE-TIER WEB APPLICATION</vt:lpstr>
      <vt:lpstr>TWO USERS, ONE LAST SEAT</vt:lpstr>
      <vt:lpstr>NODE.JS, EXPRESS, EJS AND MYSQL</vt:lpstr>
      <vt:lpstr>FOUR ROLES, CHECKED ON THE SERVER</vt:lpstr>
      <vt:lpstr>SIX MILESTONES, DELIVERED</vt:lpstr>
      <vt:lpstr>DASHBOARD</vt:lpstr>
      <vt:lpstr>PLAYERS</vt:lpstr>
      <vt:lpstr>CLASSES</vt:lpstr>
      <vt:lpstr>REGISTRATIONS</vt:lpstr>
      <vt:lpstr>ATTENDANCE</vt:lpstr>
      <vt:lpstr>SQL REPORTS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Youth Football Academy FAMS</dc:title>
  <dc:subject/>
  <dc:creator/>
  <cp:lastModifiedBy>NOPPAJIT JADSORN</cp:lastModifiedBy>
  <cp:revision>2</cp:revision>
  <dcterms:created xsi:type="dcterms:W3CDTF">2026-10-14T11:48:40Z</dcterms:created>
  <dcterms:modified xsi:type="dcterms:W3CDTF">2026-10-14T12:52:41Z</dcterms:modified>
</cp:coreProperties>
</file>